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4" r:id="rId4"/>
  </p:sldMasterIdLst>
  <p:notesMasterIdLst>
    <p:notesMasterId r:id="rId25"/>
  </p:notesMasterIdLst>
  <p:sldIdLst>
    <p:sldId id="271" r:id="rId5"/>
    <p:sldId id="272" r:id="rId6"/>
    <p:sldId id="289" r:id="rId7"/>
    <p:sldId id="290" r:id="rId8"/>
    <p:sldId id="291" r:id="rId9"/>
    <p:sldId id="292" r:id="rId10"/>
    <p:sldId id="293" r:id="rId11"/>
    <p:sldId id="296" r:id="rId12"/>
    <p:sldId id="307" r:id="rId13"/>
    <p:sldId id="297" r:id="rId14"/>
    <p:sldId id="303" r:id="rId15"/>
    <p:sldId id="306" r:id="rId16"/>
    <p:sldId id="308" r:id="rId17"/>
    <p:sldId id="309" r:id="rId18"/>
    <p:sldId id="310" r:id="rId19"/>
    <p:sldId id="311" r:id="rId20"/>
    <p:sldId id="312" r:id="rId21"/>
    <p:sldId id="313" r:id="rId22"/>
    <p:sldId id="301" r:id="rId23"/>
    <p:sldId id="304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25" userDrawn="1">
          <p15:clr>
            <a:srgbClr val="A4A3A4"/>
          </p15:clr>
        </p15:guide>
        <p15:guide id="4" pos="1209" userDrawn="1">
          <p15:clr>
            <a:srgbClr val="A4A3A4"/>
          </p15:clr>
        </p15:guide>
        <p15:guide id="5" pos="2955" userDrawn="1">
          <p15:clr>
            <a:srgbClr val="A4A3A4"/>
          </p15:clr>
        </p15:guide>
        <p15:guide id="6" pos="2071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4702" userDrawn="1">
          <p15:clr>
            <a:srgbClr val="A4A3A4"/>
          </p15:clr>
        </p15:guide>
        <p15:guide id="11" pos="5586" userDrawn="1">
          <p15:clr>
            <a:srgbClr val="A4A3A4"/>
          </p15:clr>
        </p15:guide>
        <p15:guide id="12" pos="7333" userDrawn="1">
          <p15:clr>
            <a:srgbClr val="A4A3A4"/>
          </p15:clr>
        </p15:guide>
        <p15:guide id="13" orient="horz" pos="3952" userDrawn="1">
          <p15:clr>
            <a:srgbClr val="A4A3A4"/>
          </p15:clr>
        </p15:guide>
        <p15:guide id="15" pos="6471" userDrawn="1">
          <p15:clr>
            <a:srgbClr val="A4A3A4"/>
          </p15:clr>
        </p15:guide>
        <p15:guide id="16" orient="horz" pos="91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утьков Юрий Юрьевич" initials="КЮЮ" lastIdx="4" clrIdx="0">
    <p:extLst>
      <p:ext uri="{19B8F6BF-5375-455C-9EA6-DF929625EA0E}">
        <p15:presenceInfo xmlns:p15="http://schemas.microsoft.com/office/powerpoint/2012/main" userId="S::ykutkov@hse.ru::45dbd1ed-eea1-4925-9fa4-5001421b49da" providerId="AD"/>
      </p:ext>
    </p:extLst>
  </p:cmAuthor>
  <p:cmAuthor id="2" name="Лебедев Сергей Аркадьевич" initials="ЛСА" lastIdx="4" clrIdx="1">
    <p:extLst>
      <p:ext uri="{19B8F6BF-5375-455C-9EA6-DF929625EA0E}">
        <p15:presenceInfo xmlns:p15="http://schemas.microsoft.com/office/powerpoint/2012/main" userId="S-1-5-21-3674890872-1406439013-3720264777-4884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9C63"/>
    <a:srgbClr val="96628C"/>
    <a:srgbClr val="11A0D7"/>
    <a:srgbClr val="E61F3D"/>
    <a:srgbClr val="CD5A5A"/>
    <a:srgbClr val="FFD746"/>
    <a:srgbClr val="0E2D69"/>
    <a:srgbClr val="D9D9D9"/>
    <a:srgbClr val="EB681F"/>
    <a:srgbClr val="234A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C21501-8AC7-D24B-9BD4-4AB280FA19DE}" v="6" dt="2021-11-26T18:08:21.5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18" autoAdjust="0"/>
    <p:restoredTop sz="94726"/>
  </p:normalViewPr>
  <p:slideViewPr>
    <p:cSldViewPr snapToGrid="0" snapToObjects="1">
      <p:cViewPr varScale="1">
        <p:scale>
          <a:sx n="120" d="100"/>
          <a:sy n="120" d="100"/>
        </p:scale>
        <p:origin x="672" y="192"/>
      </p:cViewPr>
      <p:guideLst>
        <p:guide pos="325"/>
        <p:guide pos="1209"/>
        <p:guide pos="2955"/>
        <p:guide pos="2071"/>
        <p:guide pos="3840"/>
        <p:guide pos="4702"/>
        <p:guide pos="5586"/>
        <p:guide pos="7333"/>
        <p:guide orient="horz" pos="3952"/>
        <p:guide pos="6471"/>
        <p:guide orient="horz" pos="91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134" d="100"/>
          <a:sy n="134" d="100"/>
        </p:scale>
        <p:origin x="3648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3-05-30T17:07:20.976" idx="1">
    <p:pos x="4697" y="3010"/>
    <p:text>Если официального соруководителя нет, то убрать.</p:text>
    <p:extLst>
      <p:ext uri="{C676402C-5697-4E1C-873F-D02D1690AC5C}">
        <p15:threadingInfo xmlns:p15="http://schemas.microsoft.com/office/powerpoint/2012/main" timeZoneBias="-1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261BF4-8B2C-784B-9959-B59A059012C3}" type="datetimeFigureOut">
              <a:rPr lang="en-RU" smtClean="0"/>
              <a:t>2/2/26</a:t>
            </a:fld>
            <a:endParaRPr lang="en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748903-8EB5-294E-A216-6B54B0368783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731680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4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8089926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en-RU" smtClean="0"/>
              <a:t>2/2/26</a:t>
            </a:fld>
            <a:endParaRPr lang="en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559546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en-RU" smtClean="0"/>
              <a:t>2/2/26</a:t>
            </a:fld>
            <a:endParaRPr lang="en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76359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en-RU" smtClean="0"/>
              <a:t>2/2/26</a:t>
            </a:fld>
            <a:endParaRPr lang="en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625032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en-RU" smtClean="0"/>
              <a:t>2/2/26</a:t>
            </a:fld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837556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en-RU" smtClean="0"/>
              <a:t>2/2/26</a:t>
            </a:fld>
            <a:endParaRPr lang="en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102553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en-RU" smtClean="0"/>
              <a:t>2/2/26</a:t>
            </a:fld>
            <a:endParaRPr lang="en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512865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en-RU" smtClean="0"/>
              <a:t>2/2/26</a:t>
            </a:fld>
            <a:endParaRPr lang="en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991926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en-RU" smtClean="0"/>
              <a:t>2/2/26</a:t>
            </a:fld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808927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en-RU" smtClean="0"/>
              <a:t>2/2/26</a:t>
            </a:fld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064661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en-RU" smtClean="0"/>
              <a:t>2/2/26</a:t>
            </a:fld>
            <a:endParaRPr lang="en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762953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en-RU" smtClean="0"/>
              <a:t>2/2/26</a:t>
            </a:fld>
            <a:endParaRPr lang="en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4628184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Обложк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8" descr="A blue circle with white text&#10;&#10;Description automatically generated with low confidence">
            <a:extLst>
              <a:ext uri="{FF2B5EF4-FFF2-40B4-BE49-F238E27FC236}">
                <a16:creationId xmlns:a16="http://schemas.microsoft.com/office/drawing/2014/main" id="{BA292C80-0DA8-194A-9A66-279048FA2A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3859" y="962173"/>
            <a:ext cx="886499" cy="886499"/>
          </a:xfrm>
          <a:prstGeom prst="rect">
            <a:avLst/>
          </a:prstGeom>
        </p:spPr>
      </p:pic>
      <p:cxnSp>
        <p:nvCxnSpPr>
          <p:cNvPr id="11" name="Straight Connector 48">
            <a:extLst>
              <a:ext uri="{FF2B5EF4-FFF2-40B4-BE49-F238E27FC236}">
                <a16:creationId xmlns:a16="http://schemas.microsoft.com/office/drawing/2014/main" id="{313EF906-5BAC-0141-A198-076E155DF9E2}"/>
              </a:ext>
            </a:extLst>
          </p:cNvPr>
          <p:cNvCxnSpPr>
            <a:cxnSpLocks/>
          </p:cNvCxnSpPr>
          <p:nvPr userDrawn="1"/>
        </p:nvCxnSpPr>
        <p:spPr>
          <a:xfrm>
            <a:off x="6090212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50">
            <a:extLst>
              <a:ext uri="{FF2B5EF4-FFF2-40B4-BE49-F238E27FC236}">
                <a16:creationId xmlns:a16="http://schemas.microsoft.com/office/drawing/2014/main" id="{61206A97-26F2-E646-8775-9928FEF465B5}"/>
              </a:ext>
            </a:extLst>
          </p:cNvPr>
          <p:cNvCxnSpPr>
            <a:cxnSpLocks/>
          </p:cNvCxnSpPr>
          <p:nvPr userDrawn="1"/>
        </p:nvCxnSpPr>
        <p:spPr>
          <a:xfrm>
            <a:off x="8642581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51">
            <a:extLst>
              <a:ext uri="{FF2B5EF4-FFF2-40B4-BE49-F238E27FC236}">
                <a16:creationId xmlns:a16="http://schemas.microsoft.com/office/drawing/2014/main" id="{28E0E5F6-C1CA-9B41-B1DB-6E4FB509084D}"/>
              </a:ext>
            </a:extLst>
          </p:cNvPr>
          <p:cNvCxnSpPr>
            <a:cxnSpLocks/>
          </p:cNvCxnSpPr>
          <p:nvPr userDrawn="1"/>
        </p:nvCxnSpPr>
        <p:spPr>
          <a:xfrm>
            <a:off x="11179047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Заголовок 15">
            <a:extLst>
              <a:ext uri="{FF2B5EF4-FFF2-40B4-BE49-F238E27FC236}">
                <a16:creationId xmlns:a16="http://schemas.microsoft.com/office/drawing/2014/main" id="{6007C52F-2E27-E24A-B9DC-AAAB052DB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7967" y="2404670"/>
            <a:ext cx="7634059" cy="1978323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4300" b="0" i="0" baseline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презентации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может быть набрано в две 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или три строки (43 </a:t>
            </a:r>
            <a:r>
              <a:rPr lang="en-GB" sz="4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4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4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18109844-C2E7-354F-9C01-8834E4DCE3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74947" y="1187841"/>
            <a:ext cx="3848717" cy="43516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i="0">
                <a:latin typeface="HSE Sans" panose="02000000000000000000" pitchFamily="2" charset="0"/>
              </a:defRPr>
            </a:lvl1pPr>
            <a:lvl2pPr marL="457200" indent="0" algn="l">
              <a:buNone/>
              <a:defRPr sz="1600" b="0" i="0">
                <a:latin typeface="HSE Sans" panose="02000000000000000000" pitchFamily="2" charset="0"/>
              </a:defRPr>
            </a:lvl2pPr>
            <a:lvl3pPr marL="914400" indent="0" algn="l">
              <a:buNone/>
              <a:defRPr sz="1600" b="0" i="0">
                <a:latin typeface="HSE Sans" panose="02000000000000000000" pitchFamily="2" charset="0"/>
              </a:defRPr>
            </a:lvl3pPr>
            <a:lvl4pPr marL="1371600" indent="0" algn="l">
              <a:buNone/>
              <a:defRPr sz="1600" b="0" i="0">
                <a:latin typeface="HSE Sans" panose="02000000000000000000" pitchFamily="2" charset="0"/>
              </a:defRPr>
            </a:lvl4pPr>
            <a:lvl5pPr marL="1828800" indent="0" algn="l">
              <a:buNone/>
              <a:defRPr sz="1600" b="0" i="0">
                <a:latin typeface="HSE Sans" panose="02000000000000000000" pitchFamily="2" charset="0"/>
              </a:defRPr>
            </a:lvl5pPr>
          </a:lstStyle>
          <a:p>
            <a:r>
              <a:rPr lang="ru-RU" dirty="0">
                <a:latin typeface="HSE Sans" panose="02000000000000000000" pitchFamily="2" charset="0"/>
              </a:rPr>
              <a:t>Название факультета</a:t>
            </a:r>
            <a:br>
              <a:rPr lang="ru-RU" dirty="0">
                <a:latin typeface="HSE Sans" panose="02000000000000000000" pitchFamily="2" charset="0"/>
              </a:rPr>
            </a:br>
            <a:r>
              <a:rPr lang="ru-RU" dirty="0">
                <a:latin typeface="HSE Sans" panose="02000000000000000000" pitchFamily="2" charset="0"/>
              </a:rPr>
              <a:t>в две строки</a:t>
            </a:r>
            <a:r>
              <a:rPr lang="en-GB" dirty="0">
                <a:latin typeface="HSE Sans" panose="02000000000000000000" pitchFamily="2" charset="0"/>
              </a:rPr>
              <a:t> (16 </a:t>
            </a:r>
            <a:r>
              <a:rPr lang="en-GB" dirty="0" err="1">
                <a:latin typeface="HSE Sans" panose="02000000000000000000" pitchFamily="2" charset="0"/>
              </a:rPr>
              <a:t>pt</a:t>
            </a:r>
            <a:r>
              <a:rPr lang="en-GB" dirty="0">
                <a:latin typeface="HSE Sans" panose="02000000000000000000" pitchFamily="2" charset="0"/>
              </a:rPr>
              <a:t>)</a:t>
            </a:r>
            <a:endParaRPr lang="ru-RU" dirty="0">
              <a:latin typeface="HSE Sans" panose="02000000000000000000" pitchFamily="2" charset="0"/>
            </a:endParaRP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40A04329-C800-BB42-BFE0-7E3C68848D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59420" y="1173829"/>
            <a:ext cx="2278063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98337931-3EC2-F348-99EA-860F4FFDC188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786720" y="1173829"/>
            <a:ext cx="2217738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Москва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2022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EEA7A79B-D410-B44F-BF32-C3EAEFC20A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7967" y="4824914"/>
            <a:ext cx="7625267" cy="652860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600" dirty="0">
                <a:latin typeface="HSE Sans" panose="02000000000000000000" pitchFamily="2" charset="0"/>
              </a:rPr>
              <a:t>Если нужно больше места, то используйте подзаголовок</a:t>
            </a:r>
            <a:r>
              <a:rPr lang="en-GB" sz="1600" dirty="0">
                <a:latin typeface="HSE Sans" panose="02000000000000000000" pitchFamily="2" charset="0"/>
              </a:rPr>
              <a:t> (16 </a:t>
            </a:r>
            <a:r>
              <a:rPr lang="en-GB" sz="1600" dirty="0" err="1">
                <a:latin typeface="HSE Sans" panose="02000000000000000000" pitchFamily="2" charset="0"/>
              </a:rPr>
              <a:t>pt</a:t>
            </a:r>
            <a:r>
              <a:rPr lang="en-GB" sz="1600" dirty="0">
                <a:latin typeface="HSE Sans" panose="02000000000000000000" pitchFamily="2" charset="0"/>
              </a:rPr>
              <a:t>)</a:t>
            </a:r>
            <a:endParaRPr lang="ru-RU" sz="16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93100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екст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 descr="Icon&#10;&#10;Description automatically generated">
            <a:extLst>
              <a:ext uri="{FF2B5EF4-FFF2-40B4-BE49-F238E27FC236}">
                <a16:creationId xmlns:a16="http://schemas.microsoft.com/office/drawing/2014/main" id="{4A1436AC-5F96-2A4F-BFC7-B3442083EB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11" name="Straight Connector 19">
            <a:extLst>
              <a:ext uri="{FF2B5EF4-FFF2-40B4-BE49-F238E27FC236}">
                <a16:creationId xmlns:a16="http://schemas.microsoft.com/office/drawing/2014/main" id="{067DD2ED-246D-7D41-B51F-FED98BF873FD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21">
            <a:extLst>
              <a:ext uri="{FF2B5EF4-FFF2-40B4-BE49-F238E27FC236}">
                <a16:creationId xmlns:a16="http://schemas.microsoft.com/office/drawing/2014/main" id="{68E8C250-D449-A743-8975-B5BFB04D9744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25">
            <a:extLst>
              <a:ext uri="{FF2B5EF4-FFF2-40B4-BE49-F238E27FC236}">
                <a16:creationId xmlns:a16="http://schemas.microsoft.com/office/drawing/2014/main" id="{DD1C71CA-B883-AF42-959D-BCA5690AAA4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4D3A12E-0E10-C441-81D2-C3C1EB6A053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9" name="Straight Connector 59">
            <a:extLst>
              <a:ext uri="{FF2B5EF4-FFF2-40B4-BE49-F238E27FC236}">
                <a16:creationId xmlns:a16="http://schemas.microsoft.com/office/drawing/2014/main" id="{3447008E-4F3B-FC4E-B96D-3927FAE1ED17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Рисунок 23">
            <a:extLst>
              <a:ext uri="{FF2B5EF4-FFF2-40B4-BE49-F238E27FC236}">
                <a16:creationId xmlns:a16="http://schemas.microsoft.com/office/drawing/2014/main" id="{61115A7A-23E5-E442-9551-F72F1CDA57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684653" y="1447790"/>
            <a:ext cx="4325167" cy="4325107"/>
          </a:xfrm>
          <a:solidFill>
            <a:srgbClr val="D9D9D9"/>
          </a:solidFill>
        </p:spPr>
        <p:txBody>
          <a:bodyPr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2800" dirty="0">
                <a:solidFill>
                  <a:schemeClr val="tx1"/>
                </a:solidFill>
                <a:latin typeface="HSE Sans" panose="02000000000000000000" pitchFamily="2" charset="0"/>
              </a:rPr>
              <a:t>Чтобы слайд не выглядел пустым, сюда можно поставить иллюстрацию или фотографию</a:t>
            </a:r>
            <a:endParaRPr lang="en-RU" sz="2800">
              <a:solidFill>
                <a:schemeClr val="tx1"/>
              </a:solidFill>
              <a:latin typeface="HSE Sans" panose="02000000000000000000" pitchFamily="2" charset="0"/>
            </a:endParaRPr>
          </a:p>
        </p:txBody>
      </p:sp>
      <p:sp>
        <p:nvSpPr>
          <p:cNvPr id="32" name="Заголовок 31">
            <a:extLst>
              <a:ext uri="{FF2B5EF4-FFF2-40B4-BE49-F238E27FC236}">
                <a16:creationId xmlns:a16="http://schemas.microsoft.com/office/drawing/2014/main" id="{9ED7AA97-D972-DF4F-B662-A65F2A544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8" y="1447790"/>
            <a:ext cx="524556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69E35E54-2B19-7441-876F-1C6A84F4F1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5245561" cy="3393234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38" name="Текст 37">
            <a:extLst>
              <a:ext uri="{FF2B5EF4-FFF2-40B4-BE49-F238E27FC236}">
                <a16:creationId xmlns:a16="http://schemas.microsoft.com/office/drawing/2014/main" id="{7FB4A275-856E-364D-8AA4-2071AADC6A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58FBA0EA-8BE0-A643-B258-4E5C344671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1" name="Текст 39">
            <a:extLst>
              <a:ext uri="{FF2B5EF4-FFF2-40B4-BE49-F238E27FC236}">
                <a16:creationId xmlns:a16="http://schemas.microsoft.com/office/drawing/2014/main" id="{0BEC062F-1BEB-DE4C-B7EE-C552C9D45F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58000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в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328428E-0D3D-6E4B-BAC0-3F63BAF7DB7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86CF47C6-D972-9E44-A717-6848F3489399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412FEF63-77C0-7C4A-B9BE-4BC0EEEEB78C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C4F550E9-E979-284D-B65F-44E092DD9D02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A39D099-B515-F343-BF7A-A95468DA3860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396B1F99-9711-C64F-A7C9-4F1D89E7F11D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9C21DFE9-C3B2-C54E-9275-7776355F73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5A73F99D-6D58-724E-ADB3-150D9B24F8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7E89E360-BE39-5041-BAD6-C7B708340A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9" name="Заголовок 31">
            <a:extLst>
              <a:ext uri="{FF2B5EF4-FFF2-40B4-BE49-F238E27FC236}">
                <a16:creationId xmlns:a16="http://schemas.microsoft.com/office/drawing/2014/main" id="{1C20890C-BC1C-0745-9AF3-46700BA27C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Дополнительная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цветовая гамма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CA2589F7-4500-024F-8E07-D726629A599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Для оформления графиков, таблиц, диаграмм могут потребоваться дополнительные цвета и вы совершенно правы, задавая вопрос, какие цвета использовать и где их взять. Мы предлагаем использовать палитру цветов Вышки для этих целей.</a:t>
            </a:r>
          </a:p>
        </p:txBody>
      </p:sp>
      <p:sp>
        <p:nvSpPr>
          <p:cNvPr id="21" name="Oval 5">
            <a:extLst>
              <a:ext uri="{FF2B5EF4-FFF2-40B4-BE49-F238E27FC236}">
                <a16:creationId xmlns:a16="http://schemas.microsoft.com/office/drawing/2014/main" id="{D2CA403A-98E7-6C42-8F44-30AB6622C802}"/>
              </a:ext>
            </a:extLst>
          </p:cNvPr>
          <p:cNvSpPr/>
          <p:nvPr userDrawn="1"/>
        </p:nvSpPr>
        <p:spPr>
          <a:xfrm>
            <a:off x="5392982" y="1447790"/>
            <a:ext cx="830997" cy="830997"/>
          </a:xfrm>
          <a:prstGeom prst="ellipse">
            <a:avLst/>
          </a:prstGeom>
          <a:solidFill>
            <a:srgbClr val="0E2D69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2" name="Oval 20">
            <a:extLst>
              <a:ext uri="{FF2B5EF4-FFF2-40B4-BE49-F238E27FC236}">
                <a16:creationId xmlns:a16="http://schemas.microsoft.com/office/drawing/2014/main" id="{42ABAA5D-E7AB-6E48-9D43-A48178C9BDD4}"/>
              </a:ext>
            </a:extLst>
          </p:cNvPr>
          <p:cNvSpPr/>
          <p:nvPr userDrawn="1"/>
        </p:nvSpPr>
        <p:spPr>
          <a:xfrm>
            <a:off x="6742925" y="1447790"/>
            <a:ext cx="830997" cy="830997"/>
          </a:xfrm>
          <a:prstGeom prst="ellipse">
            <a:avLst/>
          </a:prstGeom>
          <a:solidFill>
            <a:srgbClr val="234A9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09F185A-8F67-9C42-A7C5-87E483F4FC19}"/>
              </a:ext>
            </a:extLst>
          </p:cNvPr>
          <p:cNvSpPr/>
          <p:nvPr userDrawn="1"/>
        </p:nvSpPr>
        <p:spPr>
          <a:xfrm>
            <a:off x="8092868" y="1447790"/>
            <a:ext cx="830997" cy="830997"/>
          </a:xfrm>
          <a:prstGeom prst="ellipse">
            <a:avLst/>
          </a:prstGeom>
          <a:solidFill>
            <a:srgbClr val="11A0D7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79AE0F6-4E37-6C4D-AF45-824EEE489A15}"/>
              </a:ext>
            </a:extLst>
          </p:cNvPr>
          <p:cNvSpPr/>
          <p:nvPr userDrawn="1"/>
        </p:nvSpPr>
        <p:spPr>
          <a:xfrm>
            <a:off x="9442811" y="1447790"/>
            <a:ext cx="830997" cy="830997"/>
          </a:xfrm>
          <a:prstGeom prst="ellipse">
            <a:avLst/>
          </a:prstGeom>
          <a:solidFill>
            <a:srgbClr val="029C6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5" name="Oval 26">
            <a:extLst>
              <a:ext uri="{FF2B5EF4-FFF2-40B4-BE49-F238E27FC236}">
                <a16:creationId xmlns:a16="http://schemas.microsoft.com/office/drawing/2014/main" id="{330C0EA4-7FD1-CE4D-AC95-8C484C5AC790}"/>
              </a:ext>
            </a:extLst>
          </p:cNvPr>
          <p:cNvSpPr/>
          <p:nvPr userDrawn="1"/>
        </p:nvSpPr>
        <p:spPr>
          <a:xfrm>
            <a:off x="10792754" y="1447790"/>
            <a:ext cx="830997" cy="830997"/>
          </a:xfrm>
          <a:prstGeom prst="ellipse">
            <a:avLst/>
          </a:prstGeom>
          <a:solidFill>
            <a:srgbClr val="EB681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6" name="Oval 29">
            <a:extLst>
              <a:ext uri="{FF2B5EF4-FFF2-40B4-BE49-F238E27FC236}">
                <a16:creationId xmlns:a16="http://schemas.microsoft.com/office/drawing/2014/main" id="{4C53CF3D-7EFB-DF4F-8EA6-5644574E9AFB}"/>
              </a:ext>
            </a:extLst>
          </p:cNvPr>
          <p:cNvSpPr/>
          <p:nvPr userDrawn="1"/>
        </p:nvSpPr>
        <p:spPr>
          <a:xfrm>
            <a:off x="5392982" y="2708699"/>
            <a:ext cx="830997" cy="830997"/>
          </a:xfrm>
          <a:prstGeom prst="ellipse">
            <a:avLst/>
          </a:prstGeom>
          <a:solidFill>
            <a:srgbClr val="7D4EB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7" name="Oval 33">
            <a:extLst>
              <a:ext uri="{FF2B5EF4-FFF2-40B4-BE49-F238E27FC236}">
                <a16:creationId xmlns:a16="http://schemas.microsoft.com/office/drawing/2014/main" id="{B42CE88A-E9A3-2A4E-BD50-EB37311F39EC}"/>
              </a:ext>
            </a:extLst>
          </p:cNvPr>
          <p:cNvSpPr/>
          <p:nvPr userDrawn="1"/>
        </p:nvSpPr>
        <p:spPr>
          <a:xfrm>
            <a:off x="6742925" y="2708699"/>
            <a:ext cx="830997" cy="830997"/>
          </a:xfrm>
          <a:prstGeom prst="ellipse">
            <a:avLst/>
          </a:prstGeom>
          <a:solidFill>
            <a:srgbClr val="E61F3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8" name="Oval 34">
            <a:extLst>
              <a:ext uri="{FF2B5EF4-FFF2-40B4-BE49-F238E27FC236}">
                <a16:creationId xmlns:a16="http://schemas.microsoft.com/office/drawing/2014/main" id="{B699EFDF-DB9D-3C4F-9D1F-461508017BDA}"/>
              </a:ext>
            </a:extLst>
          </p:cNvPr>
          <p:cNvSpPr/>
          <p:nvPr userDrawn="1"/>
        </p:nvSpPr>
        <p:spPr>
          <a:xfrm>
            <a:off x="8092868" y="2708699"/>
            <a:ext cx="830997" cy="830997"/>
          </a:xfrm>
          <a:prstGeom prst="ellipse">
            <a:avLst/>
          </a:prstGeom>
          <a:solidFill>
            <a:srgbClr val="FBBA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9" name="Oval 35">
            <a:extLst>
              <a:ext uri="{FF2B5EF4-FFF2-40B4-BE49-F238E27FC236}">
                <a16:creationId xmlns:a16="http://schemas.microsoft.com/office/drawing/2014/main" id="{5DF3131C-EEA1-5446-B567-C9DA0A2A1AFF}"/>
              </a:ext>
            </a:extLst>
          </p:cNvPr>
          <p:cNvSpPr/>
          <p:nvPr userDrawn="1"/>
        </p:nvSpPr>
        <p:spPr>
          <a:xfrm>
            <a:off x="9442811" y="2708699"/>
            <a:ext cx="830997" cy="830997"/>
          </a:xfrm>
          <a:prstGeom prst="ellipse">
            <a:avLst/>
          </a:prstGeom>
          <a:solidFill>
            <a:srgbClr val="7DA0D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0" name="Oval 36">
            <a:extLst>
              <a:ext uri="{FF2B5EF4-FFF2-40B4-BE49-F238E27FC236}">
                <a16:creationId xmlns:a16="http://schemas.microsoft.com/office/drawing/2014/main" id="{6D03B317-B61D-2945-8C0A-A6EBD87ACD07}"/>
              </a:ext>
            </a:extLst>
          </p:cNvPr>
          <p:cNvSpPr/>
          <p:nvPr userDrawn="1"/>
        </p:nvSpPr>
        <p:spPr>
          <a:xfrm>
            <a:off x="10792754" y="2708699"/>
            <a:ext cx="830997" cy="830997"/>
          </a:xfrm>
          <a:prstGeom prst="ellipse">
            <a:avLst/>
          </a:prstGeom>
          <a:solidFill>
            <a:srgbClr val="47A0A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1" name="Oval 37">
            <a:extLst>
              <a:ext uri="{FF2B5EF4-FFF2-40B4-BE49-F238E27FC236}">
                <a16:creationId xmlns:a16="http://schemas.microsoft.com/office/drawing/2014/main" id="{9C0266F1-C0B7-624A-A873-5F2C8801E766}"/>
              </a:ext>
            </a:extLst>
          </p:cNvPr>
          <p:cNvSpPr/>
          <p:nvPr userDrawn="1"/>
        </p:nvSpPr>
        <p:spPr>
          <a:xfrm>
            <a:off x="5392982" y="3969609"/>
            <a:ext cx="830997" cy="830997"/>
          </a:xfrm>
          <a:prstGeom prst="ellipse">
            <a:avLst/>
          </a:prstGeom>
          <a:solidFill>
            <a:srgbClr val="EB8C3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2" name="Oval 38">
            <a:extLst>
              <a:ext uri="{FF2B5EF4-FFF2-40B4-BE49-F238E27FC236}">
                <a16:creationId xmlns:a16="http://schemas.microsoft.com/office/drawing/2014/main" id="{30C0C10E-388C-9843-8270-19D471BD3756}"/>
              </a:ext>
            </a:extLst>
          </p:cNvPr>
          <p:cNvSpPr/>
          <p:nvPr userDrawn="1"/>
        </p:nvSpPr>
        <p:spPr>
          <a:xfrm>
            <a:off x="6742925" y="3969609"/>
            <a:ext cx="830997" cy="830997"/>
          </a:xfrm>
          <a:prstGeom prst="ellipse">
            <a:avLst/>
          </a:prstGeom>
          <a:solidFill>
            <a:srgbClr val="96628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3" name="Oval 39">
            <a:extLst>
              <a:ext uri="{FF2B5EF4-FFF2-40B4-BE49-F238E27FC236}">
                <a16:creationId xmlns:a16="http://schemas.microsoft.com/office/drawing/2014/main" id="{87047EA3-79D2-8644-A568-E64AA1D7D370}"/>
              </a:ext>
            </a:extLst>
          </p:cNvPr>
          <p:cNvSpPr/>
          <p:nvPr userDrawn="1"/>
        </p:nvSpPr>
        <p:spPr>
          <a:xfrm>
            <a:off x="8092868" y="3969609"/>
            <a:ext cx="830997" cy="830997"/>
          </a:xfrm>
          <a:prstGeom prst="ellipse">
            <a:avLst/>
          </a:prstGeom>
          <a:solidFill>
            <a:srgbClr val="CD5A5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4" name="Oval 40">
            <a:extLst>
              <a:ext uri="{FF2B5EF4-FFF2-40B4-BE49-F238E27FC236}">
                <a16:creationId xmlns:a16="http://schemas.microsoft.com/office/drawing/2014/main" id="{7F5D1C6B-4E6B-0346-A5DC-C511DB14EFD6}"/>
              </a:ext>
            </a:extLst>
          </p:cNvPr>
          <p:cNvSpPr/>
          <p:nvPr userDrawn="1"/>
        </p:nvSpPr>
        <p:spPr>
          <a:xfrm>
            <a:off x="9442811" y="3969609"/>
            <a:ext cx="830997" cy="830997"/>
          </a:xfrm>
          <a:prstGeom prst="ellipse">
            <a:avLst/>
          </a:prstGeom>
          <a:solidFill>
            <a:srgbClr val="FFD74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5" name="Oval 41">
            <a:extLst>
              <a:ext uri="{FF2B5EF4-FFF2-40B4-BE49-F238E27FC236}">
                <a16:creationId xmlns:a16="http://schemas.microsoft.com/office/drawing/2014/main" id="{EB421DBA-35DE-2C4F-A89E-27F0998EF4E8}"/>
              </a:ext>
            </a:extLst>
          </p:cNvPr>
          <p:cNvSpPr/>
          <p:nvPr userDrawn="1"/>
        </p:nvSpPr>
        <p:spPr>
          <a:xfrm>
            <a:off x="10792754" y="3969609"/>
            <a:ext cx="830997" cy="830997"/>
          </a:xfrm>
          <a:prstGeom prst="ellipse">
            <a:avLst/>
          </a:prstGeom>
          <a:solidFill>
            <a:srgbClr val="CDDDF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6" name="Oval 42">
            <a:extLst>
              <a:ext uri="{FF2B5EF4-FFF2-40B4-BE49-F238E27FC236}">
                <a16:creationId xmlns:a16="http://schemas.microsoft.com/office/drawing/2014/main" id="{081BD842-A9A1-5B44-81ED-A97BA390032B}"/>
              </a:ext>
            </a:extLst>
          </p:cNvPr>
          <p:cNvSpPr/>
          <p:nvPr userDrawn="1"/>
        </p:nvSpPr>
        <p:spPr>
          <a:xfrm>
            <a:off x="5392982" y="5249769"/>
            <a:ext cx="830997" cy="830997"/>
          </a:xfrm>
          <a:prstGeom prst="ellipse">
            <a:avLst/>
          </a:prstGeom>
          <a:solidFill>
            <a:srgbClr val="D7EBB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7" name="Oval 43">
            <a:extLst>
              <a:ext uri="{FF2B5EF4-FFF2-40B4-BE49-F238E27FC236}">
                <a16:creationId xmlns:a16="http://schemas.microsoft.com/office/drawing/2014/main" id="{036EE7D2-A33A-434C-B272-C82E2CDD4D4D}"/>
              </a:ext>
            </a:extLst>
          </p:cNvPr>
          <p:cNvSpPr/>
          <p:nvPr userDrawn="1"/>
        </p:nvSpPr>
        <p:spPr>
          <a:xfrm>
            <a:off x="6742925" y="5249769"/>
            <a:ext cx="830997" cy="830997"/>
          </a:xfrm>
          <a:prstGeom prst="ellipse">
            <a:avLst/>
          </a:prstGeom>
          <a:solidFill>
            <a:srgbClr val="FFDC9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8" name="Oval 44">
            <a:extLst>
              <a:ext uri="{FF2B5EF4-FFF2-40B4-BE49-F238E27FC236}">
                <a16:creationId xmlns:a16="http://schemas.microsoft.com/office/drawing/2014/main" id="{7DD65DA4-F076-C242-813E-8C17DCABCCFB}"/>
              </a:ext>
            </a:extLst>
          </p:cNvPr>
          <p:cNvSpPr/>
          <p:nvPr userDrawn="1"/>
        </p:nvSpPr>
        <p:spPr>
          <a:xfrm>
            <a:off x="8092868" y="5249769"/>
            <a:ext cx="830997" cy="830997"/>
          </a:xfrm>
          <a:prstGeom prst="ellipse">
            <a:avLst/>
          </a:prstGeom>
          <a:solidFill>
            <a:srgbClr val="D7C3F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9" name="Oval 45">
            <a:extLst>
              <a:ext uri="{FF2B5EF4-FFF2-40B4-BE49-F238E27FC236}">
                <a16:creationId xmlns:a16="http://schemas.microsoft.com/office/drawing/2014/main" id="{8A44D99D-BF66-2848-B460-F59D8ECF5690}"/>
              </a:ext>
            </a:extLst>
          </p:cNvPr>
          <p:cNvSpPr/>
          <p:nvPr userDrawn="1"/>
        </p:nvSpPr>
        <p:spPr>
          <a:xfrm>
            <a:off x="9442811" y="5249769"/>
            <a:ext cx="830997" cy="830997"/>
          </a:xfrm>
          <a:prstGeom prst="ellipse">
            <a:avLst/>
          </a:prstGeom>
          <a:solidFill>
            <a:srgbClr val="F6C3C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40" name="Oval 46">
            <a:extLst>
              <a:ext uri="{FF2B5EF4-FFF2-40B4-BE49-F238E27FC236}">
                <a16:creationId xmlns:a16="http://schemas.microsoft.com/office/drawing/2014/main" id="{9B130CEB-3D74-B647-BA6B-32F7D70FD354}"/>
              </a:ext>
            </a:extLst>
          </p:cNvPr>
          <p:cNvSpPr/>
          <p:nvPr userDrawn="1"/>
        </p:nvSpPr>
        <p:spPr>
          <a:xfrm>
            <a:off x="10792754" y="5249769"/>
            <a:ext cx="830997" cy="830997"/>
          </a:xfrm>
          <a:prstGeom prst="ellipse">
            <a:avLst/>
          </a:prstGeom>
          <a:solidFill>
            <a:srgbClr val="FFF07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867054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63DFB-8595-A44B-9F09-A50FA310E559}" type="datetimeFigureOut">
              <a:rPr lang="en-RU" smtClean="0"/>
              <a:t>2/2/26</a:t>
            </a:fld>
            <a:endParaRPr lang="en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262961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658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D95C0D-D7DC-EF40-9E45-F5F0A4817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967" y="2186511"/>
            <a:ext cx="10244636" cy="1387841"/>
          </a:xfrm>
        </p:spPr>
        <p:txBody>
          <a:bodyPr>
            <a:normAutofit/>
          </a:bodyPr>
          <a:lstStyle/>
          <a:p>
            <a:pPr algn="ctr"/>
            <a:r>
              <a:rPr lang="en-US" sz="2400" dirty="0"/>
              <a:t>{{ author.topic | default(project.name, true) | xmlesc }}</a:t>
            </a:r>
            ((* if project.meta.name_en *))
            <a:br/>
            <a:r>
              <a:rPr lang="en-US" sz="2400" dirty="0"/>
              <a:t>{{ project.meta.name_en | default('', true) | xmlesc }}</a:t>
            </a:r>
            ((* endif *))
            <a:endParaRPr lang="ru-RU" sz="2400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B85EA7E-BEC4-B745-B2A8-D4E4AFC614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Факультет компьютерных наук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B8D49EC-434A-5443-AC3F-85F01995E6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Департамент программной инженерии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6FAE0FA-3CAF-BA4B-8F9F-5FEF3C2F3CC6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rPr lang="ru-RU" dirty="0"/>
              <a:t>{{ project.meta.city | default('Москва', true) | xmlesc }} {{ project.meta.year | default('', true) | xmlesc }}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4AFB2BF-A7AB-5648-ADCD-2A7F1BD358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818915" y="2371568"/>
            <a:ext cx="5606142" cy="2202480"/>
          </a:xfrm>
        </p:spPr>
        <p:txBody>
          <a:bodyPr numCol="2">
            <a:normAutofit/>
          </a:bodyPr>
          <a:lstStyle/>
          <a:p>
            <a:pPr algn="r"/>
            <a:br>
              <a:rPr lang="ru-RU" sz="1400" dirty="0"/>
            </a:br>
            <a:endParaRPr lang="ru-RU" sz="1400" dirty="0"/>
          </a:p>
          <a:p>
            <a:pPr algn="r"/>
            <a:endParaRPr lang="ru-RU" sz="1400" dirty="0"/>
          </a:p>
          <a:p>
            <a:pPr algn="r"/>
            <a:endParaRPr lang="ru-RU" sz="1400" dirty="0"/>
          </a:p>
          <a:p>
            <a:pPr algn="r"/>
            <a:r>
              <a:rPr lang="en-US" sz="1400" dirty="0"/>
              <a:t/>
            </a:r>
            <a:endParaRPr lang="ru-RU" sz="1400" dirty="0"/>
          </a:p>
          <a:p>
            <a:pPr algn="r"/>
            <a:endParaRPr lang="ru-RU" sz="1400" dirty="0"/>
          </a:p>
          <a:p>
            <a:pPr algn="r"/>
            <a:endParaRPr lang="ru-RU" sz="1400" dirty="0"/>
          </a:p>
          <a:p>
            <a:pPr algn="r"/>
            <a:endParaRPr lang="ru-RU" sz="1400" dirty="0"/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5513150"/>
              </p:ext>
            </p:extLst>
          </p:nvPr>
        </p:nvGraphicFramePr>
        <p:xfrm>
          <a:off x="3679371" y="3774649"/>
          <a:ext cx="7593232" cy="21159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96616">
                  <a:extLst>
                    <a:ext uri="{9D8B030D-6E8A-4147-A177-3AD203B41FA5}">
                      <a16:colId xmlns:a16="http://schemas.microsoft.com/office/drawing/2014/main" val="3296702773"/>
                    </a:ext>
                  </a:extLst>
                </a:gridCol>
                <a:gridCol w="3796616">
                  <a:extLst>
                    <a:ext uri="{9D8B030D-6E8A-4147-A177-3AD203B41FA5}">
                      <a16:colId xmlns:a16="http://schemas.microsoft.com/office/drawing/2014/main" val="2485219701"/>
                    </a:ext>
                  </a:extLst>
                </a:gridCol>
              </a:tblGrid>
              <a:tr h="957678">
                <a:tc>
                  <a:txBody>
                    <a:bodyPr/>
                    <a:lstStyle/>
                    <a:p>
                      <a:endParaRPr lang="ru-RU" sz="1400" b="1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Выполнил студент группы {{ author.group | default('', true) | xmlesc }}</a:t>
                      </a:r>
                    </a:p>
                    <a:p>
                      <a:pPr algn="r"/>
                      <a:r>
                        <a:rPr lang="ru-RU" sz="1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образовательной программы </a:t>
                      </a:r>
                    </a:p>
                    <a:p>
                      <a:pPr algn="r"/>
                      <a:r>
                        <a:rPr lang="ru-RU" sz="1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«{{ project.meta.specialization | default('Системная и программная инженерия', true) | xmlesc }}»</a:t>
                      </a:r>
                    </a:p>
                    <a:p>
                      <a:pPr algn="r"/>
                      <a:r>
                        <a:rPr lang="en-US" sz="1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HSE Sans" panose="02000000000000000000"/>
                        </a:rPr>
                        <a:t>{{ author.name | default('', true) | xmlesc }}</a:t>
                      </a:r>
                      <a:endParaRPr lang="ru-RU" sz="1400" b="1" i="0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8027350"/>
                  </a:ext>
                </a:extLst>
              </a:tr>
              <a:tr h="370840">
                <a:tc>
                  <a:txBody>
                    <a:bodyPr/>
                    <a:lstStyle/>
                    ((* if project.co_supervisor.name *))
                    <a:p>
                      <a:pPr algn="r"/>
                      <a:r>
                        <a:rPr lang="ru-RU" sz="1400" b="1" kern="12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Соруководитель</a:t>
                      </a:r>
                      <a:r>
                        <a:rPr lang="ru-RU" sz="1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: </a:t>
                      </a:r>
                    </a:p>
                    <a:p>
                      <a:pPr algn="r"/>
                      <a:r>
                        <a:rPr lang="en-US" sz="1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HSE Sans" panose="02000000000000000000"/>
                        </a:rPr>
                        <a:t>{{ project.co_supervisor.name | default('', true) | xmlesc }}</a:t>
                      </a:r>
                      <a:endParaRPr lang="ru-RU" sz="1400" b="1" i="0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  ((* else *))
                    <a:p/>
                    ((* endif *))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Руководитель: </a:t>
                      </a:r>
                    </a:p>
                    <a:p>
                      <a:pPr algn="r"/>
                      <a:r>
                        <a:rPr lang="en-US" sz="1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HSE Sans" panose="02000000000000000000"/>
                        </a:rPr>
                        <a:t>{{ project.supervisor.title | default('должность', true) | xmlesc }}((* if project.supervisor.degree *)), {{ project.supervisor.degree | xmlesc }}((* endif *))</a:t>
                      </a:r>
                    </a:p>
                    <a:p>
                      <a:pPr algn="r"/>
                      <a:r>
                        <a:rPr lang="en-US" sz="1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HSE Sans" panose="02000000000000000000"/>
                        </a:rPr>
                        <a:t>{{ project.supervisor.name | default('', true) | xmlesc }}</a:t>
                      </a:r>
                      <a:endParaRPr lang="ru-RU" sz="1400" b="1" i="0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7538864"/>
                  </a:ext>
                </a:extLst>
              </a:tr>
            </a:tbl>
          </a:graphicData>
        </a:graphic>
      </p:graphicFrame>
      <p:sp>
        <p:nvSpPr>
          <p:cNvPr id="10" name="Выноска 2 9"/>
          <p:cNvSpPr/>
          <p:nvPr/>
        </p:nvSpPr>
        <p:spPr>
          <a:xfrm>
            <a:off x="901211" y="3512526"/>
            <a:ext cx="4910504" cy="1134208"/>
          </a:xfrm>
          <a:prstGeom prst="borderCallout2">
            <a:avLst>
              <a:gd name="adj1" fmla="val 49254"/>
              <a:gd name="adj2" fmla="val 100048"/>
              <a:gd name="adj3" fmla="val 95364"/>
              <a:gd name="adj4" fmla="val 144576"/>
              <a:gd name="adj5" fmla="val 132163"/>
              <a:gd name="adj6" fmla="val 177888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200" b="1" dirty="0"/>
              <a:t>Должности</a:t>
            </a:r>
            <a:r>
              <a:rPr lang="ru-RU" sz="1200" dirty="0"/>
              <a:t> – профессор департамента программной инженерии</a:t>
            </a:r>
            <a:r>
              <a:rPr lang="en-US" sz="1200" dirty="0"/>
              <a:t>|| </a:t>
            </a:r>
            <a:r>
              <a:rPr lang="ru-RU" sz="1200" dirty="0"/>
              <a:t>доцент департамента программной инженерии </a:t>
            </a:r>
            <a:r>
              <a:rPr lang="en-US" sz="1200" dirty="0"/>
              <a:t>||</a:t>
            </a:r>
            <a:r>
              <a:rPr lang="ru-RU" sz="1200" dirty="0"/>
              <a:t> старший преподаватель департамента программной инженерии// преподаватель департамента программной инженерии</a:t>
            </a:r>
          </a:p>
          <a:p>
            <a:r>
              <a:rPr lang="ru-RU" sz="1200" dirty="0"/>
              <a:t>Или другого департамента / лаборатории</a:t>
            </a:r>
            <a:endParaRPr lang="en-US" sz="1200" dirty="0"/>
          </a:p>
          <a:p>
            <a:r>
              <a:rPr lang="ru-RU" sz="1200" b="1" dirty="0"/>
              <a:t>Ученые степени</a:t>
            </a:r>
            <a:r>
              <a:rPr lang="ru-RU" sz="1200" dirty="0"/>
              <a:t>: д.т.н. </a:t>
            </a:r>
            <a:r>
              <a:rPr lang="en-US" sz="1200" dirty="0"/>
              <a:t>|| </a:t>
            </a:r>
            <a:r>
              <a:rPr lang="ru-RU" sz="1200" dirty="0"/>
              <a:t> </a:t>
            </a:r>
            <a:r>
              <a:rPr lang="ru-RU" sz="1200" dirty="0" err="1"/>
              <a:t>д.ф</a:t>
            </a:r>
            <a:r>
              <a:rPr lang="ru-RU" sz="1200" dirty="0"/>
              <a:t>.-м. н. </a:t>
            </a:r>
            <a:r>
              <a:rPr lang="en-US" sz="1200" dirty="0"/>
              <a:t>|| </a:t>
            </a:r>
            <a:r>
              <a:rPr lang="ru-RU" sz="1200" dirty="0"/>
              <a:t> к.т.н. </a:t>
            </a:r>
            <a:r>
              <a:rPr lang="en-US" sz="1200" dirty="0"/>
              <a:t>|| </a:t>
            </a:r>
            <a:r>
              <a:rPr lang="ru-RU" sz="1200" dirty="0"/>
              <a:t> к ф.-м. н.</a:t>
            </a:r>
            <a:r>
              <a:rPr lang="en-US" sz="1200" dirty="0"/>
              <a:t> </a:t>
            </a:r>
            <a:r>
              <a:rPr lang="ru-RU" sz="1200" dirty="0"/>
              <a:t>и т.п.</a:t>
            </a:r>
          </a:p>
        </p:txBody>
      </p:sp>
      <p:sp>
        <p:nvSpPr>
          <p:cNvPr id="11" name="Выноска 2 10"/>
          <p:cNvSpPr/>
          <p:nvPr/>
        </p:nvSpPr>
        <p:spPr>
          <a:xfrm>
            <a:off x="1173564" y="5244612"/>
            <a:ext cx="2505807" cy="459258"/>
          </a:xfrm>
          <a:prstGeom prst="borderCallout2">
            <a:avLst>
              <a:gd name="adj1" fmla="val 49254"/>
              <a:gd name="adj2" fmla="val 100048"/>
              <a:gd name="adj3" fmla="val -10888"/>
              <a:gd name="adj4" fmla="val 141944"/>
              <a:gd name="adj5" fmla="val -78428"/>
              <a:gd name="adj6" fmla="val 191748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200" dirty="0"/>
              <a:t>Если официального </a:t>
            </a:r>
            <a:r>
              <a:rPr lang="ru-RU" sz="1200" dirty="0" err="1"/>
              <a:t>соруководителя</a:t>
            </a:r>
            <a:r>
              <a:rPr lang="ru-RU" sz="1200" dirty="0"/>
              <a:t> нет, то убрать.</a:t>
            </a:r>
          </a:p>
        </p:txBody>
      </p:sp>
    </p:spTree>
    <p:extLst>
      <p:ext uri="{BB962C8B-B14F-4D97-AF65-F5344CB8AC3E}">
        <p14:creationId xmlns:p14="http://schemas.microsoft.com/office/powerpoint/2010/main" val="982325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777025"/>
          </a:xfrm>
        </p:spPr>
        <p:txBody>
          <a:bodyPr>
            <a:normAutofit/>
          </a:bodyPr>
          <a:lstStyle/>
          <a:p>
            <a:r>
              <a:rPr lang="ru-RU" sz="2800" dirty="0"/>
              <a:t>Описание предметной области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8" y="2306511"/>
            <a:ext cx="5074238" cy="3393234"/>
          </a:xfrm>
        </p:spPr>
        <p:txBody>
          <a:bodyPr>
            <a:normAutofit/>
          </a:bodyPr>
          <a:lstStyle/>
          <a:p>
            <a:r>
              <a:rPr lang="ru-RU" sz="1800" b="1" dirty="0"/>
              <a:t>Статические анализаторы кода</a:t>
            </a:r>
            <a:br>
              <a:rPr lang="ru-RU" sz="1800" b="1" dirty="0"/>
            </a:br>
            <a:r>
              <a:rPr lang="ru-RU" sz="1600" i="1" dirty="0"/>
              <a:t>Цель – структурирование потока управления</a:t>
            </a:r>
            <a:endParaRPr lang="ru-RU" sz="1800" i="1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Факультет компьютерных наук,</a:t>
            </a:r>
          </a:p>
          <a:p>
            <a:r>
              <a:rPr lang="ru-RU" dirty="0"/>
              <a:t>ОП «{{ project.meta.specialization | default('Системная и программная инженерия', true) | xmlesc }}»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6FCEB52-B82D-4645-B5B7-97B6D33A6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197" y="3333470"/>
            <a:ext cx="6839905" cy="2076740"/>
          </a:xfrm>
          <a:prstGeom prst="rect">
            <a:avLst/>
          </a:prstGeom>
        </p:spPr>
      </p:pic>
      <p:sp>
        <p:nvSpPr>
          <p:cNvPr id="10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{{ author.topic | default(project.name, true) | xmlesc }}</a:t>
            </a:r>
            <a:endParaRPr lang="ru-RU" dirty="0"/>
          </a:p>
        </p:txBody>
      </p:sp>
      <p:sp>
        <p:nvSpPr>
          <p:cNvPr id="12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{{ author.name | default('', true) | xmlesc }}</a:t>
            </a:r>
            <a:endParaRPr lang="ru-RU" dirty="0"/>
          </a:p>
        </p:txBody>
      </p:sp>
      <p:sp>
        <p:nvSpPr>
          <p:cNvPr id="14" name="Выноска 1 13"/>
          <p:cNvSpPr/>
          <p:nvPr/>
        </p:nvSpPr>
        <p:spPr>
          <a:xfrm>
            <a:off x="6717321" y="1274125"/>
            <a:ext cx="4945931" cy="839718"/>
          </a:xfrm>
          <a:prstGeom prst="borderCallout1">
            <a:avLst>
              <a:gd name="adj1" fmla="val 51382"/>
              <a:gd name="adj2" fmla="val -163"/>
              <a:gd name="adj3" fmla="val 49573"/>
              <a:gd name="adj4" fmla="val -23182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/>
              <a:t>Приводится описание предметной области из курсового проекта</a:t>
            </a:r>
            <a:r>
              <a:rPr lang="en-US" sz="1200" dirty="0"/>
              <a:t> </a:t>
            </a:r>
            <a:r>
              <a:rPr lang="ru-RU" sz="1200" dirty="0"/>
              <a:t>и неформальная постановка задачи, в каких условиях ставилась задача на проект.</a:t>
            </a:r>
          </a:p>
          <a:p>
            <a:pPr algn="ctr"/>
            <a:r>
              <a:rPr lang="ru-RU" sz="1200" dirty="0"/>
              <a:t>Название заголовков необязательные. </a:t>
            </a:r>
          </a:p>
          <a:p>
            <a:pPr algn="ctr"/>
            <a:r>
              <a:rPr lang="ru-RU" sz="1200" dirty="0"/>
              <a:t>Можно написать содержательный заголовок по существу своей темы.</a:t>
            </a:r>
          </a:p>
        </p:txBody>
      </p:sp>
      <p:sp>
        <p:nvSpPr>
          <p:cNvPr id="16" name="Прямоугольная выноска 15"/>
          <p:cNvSpPr/>
          <p:nvPr/>
        </p:nvSpPr>
        <p:spPr>
          <a:xfrm>
            <a:off x="707781" y="3631223"/>
            <a:ext cx="3121269" cy="1827345"/>
          </a:xfrm>
          <a:prstGeom prst="wedgeRectCallout">
            <a:avLst>
              <a:gd name="adj1" fmla="val -20692"/>
              <a:gd name="adj2" fmla="val 62981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Пожелание: использовать на одном слайде не более 3 цветов и не более 3 шрифтов.</a:t>
            </a:r>
            <a:endParaRPr lang="en-US" sz="1400" dirty="0"/>
          </a:p>
          <a:p>
            <a:pPr algn="ctr"/>
            <a:r>
              <a:rPr lang="ru-RU" sz="1400" dirty="0"/>
              <a:t>Во всей презентации размеры шрифтов примерно одинаковые.</a:t>
            </a:r>
          </a:p>
          <a:p>
            <a:pPr algn="ctr"/>
            <a:r>
              <a:rPr lang="ru-RU" sz="1400" dirty="0"/>
              <a:t>Фрагменты кода или псевдокода – </a:t>
            </a:r>
            <a:r>
              <a:rPr lang="ru-RU" sz="1400" dirty="0" err="1"/>
              <a:t>моноширинным</a:t>
            </a:r>
            <a:r>
              <a:rPr lang="ru-RU" sz="1400" dirty="0"/>
              <a:t> шрифтом (например,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Courier</a:t>
            </a:r>
            <a:r>
              <a:rPr lang="ru-RU" sz="1400" dirty="0"/>
              <a:t> или </a:t>
            </a:r>
            <a:r>
              <a:rPr lang="en-US" sz="1400" dirty="0">
                <a:latin typeface="Consolas" panose="020B0609020204030204" pitchFamily="49" charset="0"/>
              </a:rPr>
              <a:t>Consolas</a:t>
            </a:r>
            <a:r>
              <a:rPr lang="en-US" sz="1400" dirty="0"/>
              <a:t>)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843577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777025"/>
          </a:xfrm>
        </p:spPr>
        <p:txBody>
          <a:bodyPr>
            <a:normAutofit/>
          </a:bodyPr>
          <a:lstStyle/>
          <a:p>
            <a:r>
              <a:rPr lang="ru-RU" sz="2800" dirty="0"/>
              <a:t>Основные термины, понятия и определения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7" y="2379663"/>
            <a:ext cx="5403423" cy="3393234"/>
          </a:xfrm>
        </p:spPr>
        <p:txBody>
          <a:bodyPr>
            <a:normAutofit/>
          </a:bodyPr>
          <a:lstStyle/>
          <a:p>
            <a:r>
              <a:rPr lang="en-US" sz="1400" b="1" dirty="0"/>
              <a:t>JET</a:t>
            </a:r>
            <a:r>
              <a:rPr lang="en-US" sz="1400" dirty="0"/>
              <a:t> – jump elimination tool (</a:t>
            </a:r>
            <a:r>
              <a:rPr lang="ru-RU" sz="1400" dirty="0"/>
              <a:t>инструмент устранения прыжков</a:t>
            </a:r>
            <a:r>
              <a:rPr lang="en-US" sz="1400" dirty="0"/>
              <a:t>)</a:t>
            </a:r>
            <a:endParaRPr lang="ru-RU" sz="1400" dirty="0"/>
          </a:p>
          <a:p>
            <a:r>
              <a:rPr lang="ru-RU" sz="1400" b="1" dirty="0"/>
              <a:t>Прыжки (операторы перехода) </a:t>
            </a:r>
            <a:r>
              <a:rPr lang="en-US" sz="1400" dirty="0"/>
              <a:t>–</a:t>
            </a:r>
            <a:r>
              <a:rPr lang="ru-RU" sz="1400" dirty="0"/>
              <a:t> операторы, совершающие переход к определённой точке программы (такие как </a:t>
            </a:r>
            <a:r>
              <a:rPr lang="en-US" sz="1400" dirty="0" err="1"/>
              <a:t>goto</a:t>
            </a:r>
            <a:r>
              <a:rPr lang="en-US" sz="1400" dirty="0"/>
              <a:t>, continue, break</a:t>
            </a:r>
            <a:r>
              <a:rPr lang="ru-RU" sz="1400" dirty="0"/>
              <a:t>)</a:t>
            </a:r>
            <a:endParaRPr lang="en-US" sz="1400" dirty="0"/>
          </a:p>
          <a:p>
            <a:r>
              <a:rPr lang="ru-RU" sz="1400" b="1" dirty="0"/>
              <a:t>Статический анализ кода</a:t>
            </a:r>
            <a:r>
              <a:rPr lang="ru-RU" sz="1400" dirty="0"/>
              <a:t> </a:t>
            </a:r>
            <a:r>
              <a:rPr lang="en-US" sz="1400" dirty="0"/>
              <a:t>–</a:t>
            </a:r>
            <a:r>
              <a:rPr lang="ru-RU" sz="1400" dirty="0"/>
              <a:t> анализ кода, производимый без запуска анализируемого кода</a:t>
            </a:r>
          </a:p>
          <a:p>
            <a:r>
              <a:rPr lang="ru-RU" sz="1400" b="1" dirty="0"/>
              <a:t>Семантическая эквивалентность </a:t>
            </a:r>
            <a:r>
              <a:rPr lang="ru-RU" sz="1400" dirty="0"/>
              <a:t>– максимально достижимая смысловая близость</a:t>
            </a:r>
          </a:p>
          <a:p>
            <a:r>
              <a:rPr lang="en-US" sz="1400" b="1" dirty="0"/>
              <a:t>JVM</a:t>
            </a:r>
            <a:r>
              <a:rPr lang="en-US" sz="1400" dirty="0"/>
              <a:t> – </a:t>
            </a:r>
            <a:r>
              <a:rPr lang="ru-RU" sz="1400" dirty="0"/>
              <a:t>виртуальная машина </a:t>
            </a:r>
            <a:r>
              <a:rPr lang="en-US" sz="1400" dirty="0"/>
              <a:t>Java</a:t>
            </a:r>
            <a:endParaRPr lang="ru-RU" sz="14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Факультет компьютерных наук,</a:t>
            </a:r>
          </a:p>
          <a:p>
            <a:r>
              <a:rPr lang="ru-RU" dirty="0"/>
              <a:t>ОП «{{ project.meta.specialization | default('Системная и программная инженерия', true) | xmlesc }}»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{{ author.topic | default(project.name, true) | xmlesc }}</a:t>
            </a:r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{{ author.name | default('', true) | xmlesc }}</a:t>
            </a:r>
            <a:endParaRPr lang="ru-RU" dirty="0"/>
          </a:p>
        </p:txBody>
      </p:sp>
      <p:sp>
        <p:nvSpPr>
          <p:cNvPr id="2" name="Прямоугольная выноска 1"/>
          <p:cNvSpPr/>
          <p:nvPr/>
        </p:nvSpPr>
        <p:spPr>
          <a:xfrm>
            <a:off x="7294942" y="2307981"/>
            <a:ext cx="3648808" cy="2338754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Это пример</a:t>
            </a:r>
            <a:endParaRPr lang="en-US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Желательно по алфавиту (по </a:t>
            </a:r>
            <a:r>
              <a:rPr lang="en-US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ASCII</a:t>
            </a:r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))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Можно в порядке упоминания, но это неудобно читателю.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Не зачитывайте этот слайд!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Можно назвать только 1-2 важных определения.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Если что-то надо будет уточнить, Вам зададут вопрос.</a:t>
            </a:r>
          </a:p>
        </p:txBody>
      </p:sp>
    </p:spTree>
    <p:extLst>
      <p:ext uri="{BB962C8B-B14F-4D97-AF65-F5344CB8AC3E}">
        <p14:creationId xmlns:p14="http://schemas.microsoft.com/office/powerpoint/2010/main" val="4013750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777025"/>
          </a:xfrm>
        </p:spPr>
        <p:txBody>
          <a:bodyPr>
            <a:normAutofit/>
          </a:bodyPr>
          <a:lstStyle/>
          <a:p>
            <a:r>
              <a:rPr lang="ru-RU" sz="2800" dirty="0"/>
              <a:t>Актуальность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45514" y="2516822"/>
            <a:ext cx="8896431" cy="4048569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Неструктурированный программный код</a:t>
            </a:r>
            <a:br>
              <a:rPr lang="ru-RU" dirty="0"/>
            </a:br>
            <a:r>
              <a:rPr lang="ru-RU" dirty="0"/>
              <a:t>Вопросы вредности операторов перехода возникли с 1968г. Среди них можно выявить 3 основных момента: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/>
              <a:t>Корректность кода, не содержащего </a:t>
            </a:r>
            <a:r>
              <a:rPr lang="en-US" dirty="0" err="1"/>
              <a:t>goto</a:t>
            </a:r>
            <a:r>
              <a:rPr lang="en-US" dirty="0"/>
              <a:t> </a:t>
            </a:r>
            <a:r>
              <a:rPr lang="ru-RU" dirty="0"/>
              <a:t>легче доказать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/>
              <a:t>С </a:t>
            </a:r>
            <a:r>
              <a:rPr lang="en-US" dirty="0" err="1"/>
              <a:t>goto</a:t>
            </a:r>
            <a:r>
              <a:rPr lang="en-US" dirty="0"/>
              <a:t> </a:t>
            </a:r>
            <a:r>
              <a:rPr lang="ru-RU" dirty="0"/>
              <a:t>появляются проблемы форматирования, поскольку нарушается логическая структура кода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/>
              <a:t>Применение </a:t>
            </a:r>
            <a:r>
              <a:rPr lang="en-US" dirty="0" err="1"/>
              <a:t>goto</a:t>
            </a:r>
            <a:r>
              <a:rPr lang="en-US" dirty="0"/>
              <a:t> </a:t>
            </a:r>
            <a:r>
              <a:rPr lang="ru-RU" dirty="0"/>
              <a:t>препятствует возможности оптимизации программного кода компилятором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Операторы перехода усложняют работу статическим анализаторам</a:t>
            </a:r>
            <a:br>
              <a:rPr lang="ru-RU" dirty="0"/>
            </a:br>
            <a:r>
              <a:rPr lang="ru-RU" dirty="0"/>
              <a:t>В результате чего могут возникать сложности с форматированием, проверкой кода анализатором и дальнейшей поддержкой программного кода. </a:t>
            </a:r>
            <a:br>
              <a:rPr lang="ru-RU" dirty="0"/>
            </a:br>
            <a:r>
              <a:rPr lang="ru-RU" dirty="0"/>
              <a:t>Снижение сложности потока управления может значительно улучшить статический анализ исходного кода в инструментах (таких как </a:t>
            </a:r>
            <a:r>
              <a:rPr lang="ru-RU" dirty="0" err="1"/>
              <a:t>Polystat</a:t>
            </a:r>
            <a:r>
              <a:rPr lang="ru-RU" dirty="0"/>
              <a:t>), которые в настоящее время используются более чем 20000 программистами Huawei</a:t>
            </a:r>
            <a:br>
              <a:rPr lang="ru-RU" dirty="0"/>
            </a:br>
            <a:br>
              <a:rPr lang="ru-RU" dirty="0"/>
            </a:br>
            <a:r>
              <a:rPr lang="ru-RU" dirty="0"/>
              <a:t>Такой анализ хорошо работает с операторами, которые легко сопоставить с функциями, например </a:t>
            </a:r>
            <a:r>
              <a:rPr lang="ru-RU" dirty="0" err="1"/>
              <a:t>if</a:t>
            </a:r>
            <a:r>
              <a:rPr lang="ru-RU" dirty="0"/>
              <a:t> и </a:t>
            </a:r>
            <a:r>
              <a:rPr lang="ru-RU" dirty="0" err="1"/>
              <a:t>switch</a:t>
            </a:r>
            <a:r>
              <a:rPr lang="ru-RU" dirty="0"/>
              <a:t>. Однако операторы перехода не могут быть также легко сопоставлены с функциями. Наличие операторов перехода в исходном коде делает невозможным использование функционального метода анализа.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Факультет компьютерных наук,</a:t>
            </a:r>
          </a:p>
          <a:p>
            <a:r>
              <a:rPr lang="ru-RU" dirty="0"/>
              <a:t>ОП «{{ project.meta.specialization | default('Системная и программная инженерия', true) | xmlesc }}»</a:t>
            </a:r>
          </a:p>
        </p:txBody>
      </p:sp>
      <p:pic>
        <p:nvPicPr>
          <p:cNvPr id="2050" name="Picture 2" descr="Свободное общество dataved.ru: Принципы работы статического анализа кода">
            <a:extLst>
              <a:ext uri="{FF2B5EF4-FFF2-40B4-BE49-F238E27FC236}">
                <a16:creationId xmlns:a16="http://schemas.microsoft.com/office/drawing/2014/main" id="{F496D00D-BD4B-4115-BCDD-E14BDF61CF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535" y="2981706"/>
            <a:ext cx="2381250" cy="179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{{ author.topic | default(project.name, true) | xmlesc }}</a:t>
            </a:r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{{ author.name | default('', true) | xmlesc }}</a:t>
            </a:r>
            <a:endParaRPr lang="ru-RU" dirty="0"/>
          </a:p>
        </p:txBody>
      </p:sp>
      <p:sp>
        <p:nvSpPr>
          <p:cNvPr id="12" name="Прямоугольная выноска 11"/>
          <p:cNvSpPr/>
          <p:nvPr/>
        </p:nvSpPr>
        <p:spPr>
          <a:xfrm>
            <a:off x="5029201" y="1134208"/>
            <a:ext cx="5253404" cy="1204546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Отражается актуальность вашей работы (из курсового проекта) – КЛЮЧЕВЫЕ ТЕЗИСЫ!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Здесь можно показать, например, что много работ, конференций в последнее время посвящено вашей проблеме, какие компании занимаются похожей тематикой и т.п.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Можно показать, например, в каких прикладных задачах  используются  разработки, программы и пр.</a:t>
            </a:r>
          </a:p>
        </p:txBody>
      </p:sp>
    </p:spTree>
    <p:extLst>
      <p:ext uri="{BB962C8B-B14F-4D97-AF65-F5344CB8AC3E}">
        <p14:creationId xmlns:p14="http://schemas.microsoft.com/office/powerpoint/2010/main" val="3988453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777025"/>
          </a:xfrm>
        </p:spPr>
        <p:txBody>
          <a:bodyPr>
            <a:normAutofit/>
          </a:bodyPr>
          <a:lstStyle/>
          <a:p>
            <a:r>
              <a:rPr lang="ru-RU" sz="2800" dirty="0"/>
              <a:t>Цель и задачи проекта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7" y="2379663"/>
            <a:ext cx="10752663" cy="3393234"/>
          </a:xfrm>
        </p:spPr>
        <p:txBody>
          <a:bodyPr>
            <a:normAutofit/>
          </a:bodyPr>
          <a:lstStyle/>
          <a:p>
            <a:r>
              <a:rPr lang="ru-RU" sz="1400" i="1" dirty="0"/>
              <a:t>Цель работы</a:t>
            </a:r>
            <a:r>
              <a:rPr lang="ru-RU" sz="1400" dirty="0"/>
              <a:t> – разработать инструмент для удаления операторов перехода</a:t>
            </a:r>
          </a:p>
          <a:p>
            <a:r>
              <a:rPr lang="ru-RU" sz="1400" i="1" dirty="0"/>
              <a:t>Задачи: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Разработать алгоритм устранения таких операторов как: </a:t>
            </a:r>
            <a:r>
              <a:rPr lang="en-US" sz="1400" dirty="0"/>
              <a:t>break, continue, </a:t>
            </a:r>
            <a:r>
              <a:rPr lang="en-US" sz="1400" dirty="0" err="1"/>
              <a:t>goto</a:t>
            </a:r>
            <a:r>
              <a:rPr lang="en-US" sz="1400" dirty="0"/>
              <a:t>;</a:t>
            </a:r>
            <a:endParaRPr lang="ru-RU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Обеспечить семантическую эквивалентность трансформированного кода входному</a:t>
            </a:r>
            <a:r>
              <a:rPr lang="en-US" sz="1400" dirty="0"/>
              <a:t>;</a:t>
            </a:r>
            <a:endParaRPr lang="ru-RU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Трансформация программного кода на таких языках как </a:t>
            </a:r>
            <a:r>
              <a:rPr lang="en-US" sz="1400" dirty="0"/>
              <a:t>Kotlin, Java, C#;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Расширяемость алгоритма для семейства </a:t>
            </a:r>
            <a:r>
              <a:rPr lang="en-US" sz="1400" dirty="0"/>
              <a:t>C-</a:t>
            </a:r>
            <a:r>
              <a:rPr lang="ru-RU" sz="1400" dirty="0"/>
              <a:t>подобных языков.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4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Факультет компьютерных наук,</a:t>
            </a:r>
          </a:p>
          <a:p>
            <a:r>
              <a:rPr lang="ru-RU" dirty="0"/>
              <a:t>ОП «{{ project.meta.specialization | default('Системная и программная инженерия', true) | xmlesc }}»</a:t>
            </a: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{{ author.topic | default(project.name, true) | xmlesc }}</a:t>
            </a:r>
            <a:endParaRPr lang="ru-RU" dirty="0"/>
          </a:p>
        </p:txBody>
      </p:sp>
      <p:sp>
        <p:nvSpPr>
          <p:cNvPr id="10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{{ author.name | default('', true) | xmlesc }}</a:t>
            </a:r>
            <a:endParaRPr lang="ru-RU" dirty="0"/>
          </a:p>
        </p:txBody>
      </p:sp>
      <p:sp>
        <p:nvSpPr>
          <p:cNvPr id="11" name="Прямоугольная выноска 10"/>
          <p:cNvSpPr/>
          <p:nvPr/>
        </p:nvSpPr>
        <p:spPr>
          <a:xfrm>
            <a:off x="7680010" y="1507878"/>
            <a:ext cx="4062046" cy="1740877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Отражается формальная постановка цели и задач (из курсового проекта).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Цель – одна.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Задач – много.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Здесь пример задач, у каждого в курсовом проекте они свои.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Далее план презентации может быть, например, по задачам…</a:t>
            </a:r>
          </a:p>
        </p:txBody>
      </p:sp>
    </p:spTree>
    <p:extLst>
      <p:ext uri="{BB962C8B-B14F-4D97-AF65-F5344CB8AC3E}">
        <p14:creationId xmlns:p14="http://schemas.microsoft.com/office/powerpoint/2010/main" val="3181034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777025"/>
          </a:xfrm>
        </p:spPr>
        <p:txBody>
          <a:bodyPr>
            <a:normAutofit/>
          </a:bodyPr>
          <a:lstStyle/>
          <a:p>
            <a:r>
              <a:rPr lang="ru-RU" sz="2800" dirty="0"/>
              <a:t>Анализ существующих решений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8" y="2379663"/>
            <a:ext cx="5321126" cy="3393234"/>
          </a:xfrm>
        </p:spPr>
        <p:txBody>
          <a:bodyPr>
            <a:normAutofit/>
          </a:bodyPr>
          <a:lstStyle/>
          <a:p>
            <a:r>
              <a:rPr lang="ru-RU" sz="1400" dirty="0"/>
              <a:t>Аналогичных инструментов на момент написания работы найдено не было.</a:t>
            </a:r>
          </a:p>
          <a:p>
            <a:r>
              <a:rPr lang="ru-RU" sz="1400" dirty="0"/>
              <a:t>Проводимые ранее исследования базировались преимущественно на использовании некоторого количества паттернов и «обёртки» из условного выражения. </a:t>
            </a:r>
          </a:p>
          <a:p>
            <a:r>
              <a:rPr lang="ru-RU" sz="1400" dirty="0"/>
              <a:t>Базовый алгоритм работ-аналогов: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400" dirty="0"/>
              <a:t>Выявление всех операторов и точек их перехода</a:t>
            </a:r>
            <a:r>
              <a:rPr lang="en-US" sz="1400" dirty="0"/>
              <a:t>;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400" dirty="0"/>
              <a:t>Объявление признака перехода для каждой метки</a:t>
            </a:r>
            <a:r>
              <a:rPr lang="en-US" sz="1400" dirty="0"/>
              <a:t>;</a:t>
            </a:r>
            <a:endParaRPr lang="ru-RU" sz="1400" dirty="0"/>
          </a:p>
          <a:p>
            <a:pPr marL="342900" indent="-342900">
              <a:buFont typeface="+mj-lt"/>
              <a:buAutoNum type="arabicPeriod"/>
            </a:pPr>
            <a:r>
              <a:rPr lang="ru-RU" sz="1400" dirty="0"/>
              <a:t>Трансформация всех без-условных операторов в условные</a:t>
            </a:r>
            <a:r>
              <a:rPr lang="en-US" sz="1400" dirty="0"/>
              <a:t>;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400" dirty="0"/>
              <a:t>Устранение операторов при помощи подходов для каждого случая</a:t>
            </a:r>
            <a:r>
              <a:rPr lang="en-US" sz="1400" dirty="0"/>
              <a:t>;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Факультет компьютерных наук,</a:t>
            </a:r>
          </a:p>
          <a:p>
            <a:r>
              <a:rPr lang="ru-RU" dirty="0"/>
              <a:t>ОП «{{ project.meta.specialization | default('Системная и программная инженерия', true) | xmlesc }}»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4ED7F03-B3A4-4342-809D-9CF67F350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9784" y="3842238"/>
            <a:ext cx="4855726" cy="2850929"/>
          </a:xfrm>
          <a:prstGeom prst="rect">
            <a:avLst/>
          </a:prstGeom>
        </p:spPr>
      </p:pic>
      <p:sp>
        <p:nvSpPr>
          <p:cNvPr id="11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{{ author.topic | default(project.name, true) | xmlesc }}</a:t>
            </a:r>
            <a:endParaRPr lang="ru-RU" dirty="0"/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{{ author.name | default('', true) | xmlesc }}</a:t>
            </a:r>
            <a:endParaRPr lang="ru-RU" dirty="0"/>
          </a:p>
        </p:txBody>
      </p:sp>
      <p:sp>
        <p:nvSpPr>
          <p:cNvPr id="14" name="Прямоугольная выноска 13"/>
          <p:cNvSpPr/>
          <p:nvPr/>
        </p:nvSpPr>
        <p:spPr>
          <a:xfrm>
            <a:off x="6585789" y="1598674"/>
            <a:ext cx="5050829" cy="1561978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Показать, какие теоретические / технологические подходы к решению задач по теме существуют. 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Основа – анализ российских и зарубежных  источников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Анализ аналогов. Для аналогов обязательно указать разработчиков / компанию, версию, год издания, дать ссылку на сайт разработчика / продукта, обязательно покажите эмблему разработчика, если она есть</a:t>
            </a:r>
          </a:p>
        </p:txBody>
      </p:sp>
    </p:spTree>
    <p:extLst>
      <p:ext uri="{BB962C8B-B14F-4D97-AF65-F5344CB8AC3E}">
        <p14:creationId xmlns:p14="http://schemas.microsoft.com/office/powerpoint/2010/main" val="4039017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777025"/>
          </a:xfrm>
        </p:spPr>
        <p:txBody>
          <a:bodyPr>
            <a:normAutofit/>
          </a:bodyPr>
          <a:lstStyle/>
          <a:p>
            <a:r>
              <a:rPr lang="ru-RU" sz="2800" dirty="0"/>
              <a:t>Функциональные требования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28805" y="2255070"/>
            <a:ext cx="10534390" cy="3893122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sz="1600" dirty="0"/>
              <a:t>Программа должна составлять отчёт по количеству найденных операторов перехода</a:t>
            </a:r>
            <a:r>
              <a:rPr lang="en-US" sz="1600" dirty="0"/>
              <a:t>;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/>
              <a:t>Программа должна обрабатывать программный код, написанный на языках программирования</a:t>
            </a:r>
            <a:r>
              <a:rPr lang="en-US" sz="1600" dirty="0"/>
              <a:t>:</a:t>
            </a:r>
          </a:p>
          <a:p>
            <a:pPr marL="800100" lvl="1" indent="-342900">
              <a:buFont typeface="+mj-lt"/>
              <a:buAutoNum type="arabicPeriod"/>
            </a:pPr>
            <a:r>
              <a:rPr lang="ru-RU" sz="1600" dirty="0"/>
              <a:t> </a:t>
            </a:r>
            <a:r>
              <a:rPr lang="en-US" sz="1600" dirty="0"/>
              <a:t>Kotlin;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Java;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 C#;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/>
              <a:t>Программа должна устранять операторы: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break;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continue;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 err="1"/>
              <a:t>goto</a:t>
            </a:r>
            <a:r>
              <a:rPr lang="en-US" sz="1600" dirty="0"/>
              <a:t> (labels);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/>
              <a:t>Программа должна быть совместима с </a:t>
            </a:r>
            <a:r>
              <a:rPr lang="en-US" sz="1600" dirty="0"/>
              <a:t>JVMv8.</a:t>
            </a:r>
            <a:endParaRPr lang="ru-RU" sz="16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Факультет компьютерных наук,</a:t>
            </a:r>
          </a:p>
          <a:p>
            <a:r>
              <a:rPr lang="ru-RU" dirty="0"/>
              <a:t>ОП «{{ project.meta.specialization | default('Системная и программная инженерия', true) | xmlesc }}»</a:t>
            </a: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{{ author.topic | default(project.name, true) | xmlesc }}</a:t>
            </a:r>
            <a:endParaRPr lang="ru-RU" dirty="0"/>
          </a:p>
        </p:txBody>
      </p:sp>
      <p:sp>
        <p:nvSpPr>
          <p:cNvPr id="10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{{ author.name | default('', true) | xmlesc }}</a:t>
            </a:r>
            <a:endParaRPr lang="ru-RU" dirty="0"/>
          </a:p>
        </p:txBody>
      </p:sp>
      <p:sp>
        <p:nvSpPr>
          <p:cNvPr id="11" name="Прямоугольная выноска 10"/>
          <p:cNvSpPr/>
          <p:nvPr/>
        </p:nvSpPr>
        <p:spPr>
          <a:xfrm>
            <a:off x="6163976" y="3137144"/>
            <a:ext cx="5371532" cy="2714137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В заголовке слайда такое название необязательное. 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Лучше написать содержательный заголовок по существу своей темы. Могут быть функциональные требования к программе, может быть модуль, может быть библиотека, может быть сервер или клиент и т.п. Может быть несколько слайдов.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По содержанию слайда: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 Что должна выполнять программа (функциональные требования)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2. Что на входе, на выходе (потом позже можно подробнее при необходимости)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3. Каким должен быть интерфейс, какие настройки и т.п.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Здесь просто указан образец, Вы указываете свои данные.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4636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777025"/>
          </a:xfrm>
        </p:spPr>
        <p:txBody>
          <a:bodyPr>
            <a:normAutofit/>
          </a:bodyPr>
          <a:lstStyle/>
          <a:p>
            <a:r>
              <a:rPr lang="ru-RU" sz="2800" dirty="0"/>
              <a:t>Анализ и выбор моделей, методов и алгоритмов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Факультет компьютерных наук,</a:t>
            </a:r>
          </a:p>
          <a:p>
            <a:r>
              <a:rPr lang="ru-RU" dirty="0"/>
              <a:t>ОП «{{ project.meta.specialization | default('Системная и программная инженерия', true) | xmlesc }}»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53D2EFC-BFF8-4AD3-97C8-DB2613237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519" y="2006765"/>
            <a:ext cx="5051915" cy="450517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F2891A8-74BE-43BD-9E08-783D8EB002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3976" y="4364901"/>
            <a:ext cx="2089817" cy="185273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3C26ECB-B0F6-4114-A0AB-FACE532C0A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5073" y="4364856"/>
            <a:ext cx="2459617" cy="1852783"/>
          </a:xfrm>
          <a:prstGeom prst="rect">
            <a:avLst/>
          </a:prstGeom>
        </p:spPr>
      </p:pic>
      <p:sp>
        <p:nvSpPr>
          <p:cNvPr id="11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{{ author.topic | default(project.name, true) | xmlesc }}</a:t>
            </a:r>
            <a:endParaRPr lang="ru-RU" dirty="0"/>
          </a:p>
        </p:txBody>
      </p:sp>
      <p:sp>
        <p:nvSpPr>
          <p:cNvPr id="12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{{ author.name | default('', true) | xmlesc }}</a:t>
            </a:r>
            <a:endParaRPr lang="ru-RU" dirty="0"/>
          </a:p>
        </p:txBody>
      </p:sp>
      <p:sp>
        <p:nvSpPr>
          <p:cNvPr id="13" name="Прямоугольная выноска 12"/>
          <p:cNvSpPr/>
          <p:nvPr/>
        </p:nvSpPr>
        <p:spPr>
          <a:xfrm>
            <a:off x="6589836" y="2127738"/>
            <a:ext cx="4092748" cy="1356136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В заголовке слайда такое название необязательное. 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Лучше написать содержательный заголовок по существу своей темы.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Могут быть текстовое описание с перечислением, схемы, картинки и т.п.</a:t>
            </a:r>
          </a:p>
        </p:txBody>
      </p:sp>
    </p:spTree>
    <p:extLst>
      <p:ext uri="{BB962C8B-B14F-4D97-AF65-F5344CB8AC3E}">
        <p14:creationId xmlns:p14="http://schemas.microsoft.com/office/powerpoint/2010/main" val="2477655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777025"/>
          </a:xfrm>
        </p:spPr>
        <p:txBody>
          <a:bodyPr>
            <a:normAutofit/>
          </a:bodyPr>
          <a:lstStyle/>
          <a:p>
            <a:r>
              <a:rPr lang="ru-RU" sz="2800" dirty="0"/>
              <a:t>Алгоритмы и структуры данных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Факультет компьютерных наук,</a:t>
            </a:r>
          </a:p>
          <a:p>
            <a:r>
              <a:rPr lang="ru-RU" dirty="0"/>
              <a:t>ОП «{{ project.meta.specialization | default('Системная и программная инженерия', true) | xmlesc }}»</a:t>
            </a:r>
          </a:p>
        </p:txBody>
      </p:sp>
      <p:sp>
        <p:nvSpPr>
          <p:cNvPr id="11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{{ author.topic | default(project.name, true) | xmlesc }}</a:t>
            </a:r>
            <a:endParaRPr lang="ru-RU" dirty="0"/>
          </a:p>
        </p:txBody>
      </p:sp>
      <p:sp>
        <p:nvSpPr>
          <p:cNvPr id="12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{{ author.name | default('', true) | xmlesc }}</a:t>
            </a:r>
            <a:endParaRPr lang="ru-RU" dirty="0"/>
          </a:p>
        </p:txBody>
      </p:sp>
      <p:sp>
        <p:nvSpPr>
          <p:cNvPr id="13" name="Прямоугольная выноска 12"/>
          <p:cNvSpPr/>
          <p:nvPr/>
        </p:nvSpPr>
        <p:spPr>
          <a:xfrm>
            <a:off x="3169626" y="2633295"/>
            <a:ext cx="6308411" cy="1846385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В заголовке слайда такое название необязательное. 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Лучше написать содержательный заголовок по существу своей темы.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Приводятся схемы или описание алгоритма на псевдоязыке или иллюстрации на примере и т.д., структуры данных в проекте, схемы данных, диаграммы классов и т.п.</a:t>
            </a:r>
          </a:p>
        </p:txBody>
      </p:sp>
    </p:spTree>
    <p:extLst>
      <p:ext uri="{BB962C8B-B14F-4D97-AF65-F5344CB8AC3E}">
        <p14:creationId xmlns:p14="http://schemas.microsoft.com/office/powerpoint/2010/main" val="167989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777025"/>
          </a:xfrm>
        </p:spPr>
        <p:txBody>
          <a:bodyPr>
            <a:normAutofit/>
          </a:bodyPr>
          <a:lstStyle/>
          <a:p>
            <a:r>
              <a:rPr lang="ru-RU" sz="2800" dirty="0"/>
              <a:t>Технологии и инструменты реализации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Kotlin</a:t>
            </a:r>
          </a:p>
          <a:p>
            <a:r>
              <a:rPr lang="en-US" sz="1600" dirty="0"/>
              <a:t>IntelliJ IDEA</a:t>
            </a:r>
          </a:p>
          <a:p>
            <a:r>
              <a:rPr lang="en-US" sz="1600" dirty="0"/>
              <a:t>Gradle</a:t>
            </a:r>
          </a:p>
          <a:p>
            <a:r>
              <a:rPr lang="en-US" sz="1600" dirty="0"/>
              <a:t>GitHub</a:t>
            </a:r>
            <a:endParaRPr lang="ru-RU" sz="16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Факультет компьютерных наук,</a:t>
            </a:r>
          </a:p>
          <a:p>
            <a:r>
              <a:rPr lang="ru-RU" dirty="0"/>
              <a:t>ОП «{{ project.meta.specialization | default('Системная и программная инженерия', true) | xmlesc }}»</a:t>
            </a:r>
          </a:p>
        </p:txBody>
      </p:sp>
      <p:pic>
        <p:nvPicPr>
          <p:cNvPr id="3074" name="Picture 2" descr="pbs.twimg.com/profile_images/139932969434074727...">
            <a:extLst>
              <a:ext uri="{FF2B5EF4-FFF2-40B4-BE49-F238E27FC236}">
                <a16:creationId xmlns:a16="http://schemas.microsoft.com/office/drawing/2014/main" id="{051AA271-63E2-4247-81C2-E50E769A68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376679">
            <a:off x="7574512" y="2042622"/>
            <a:ext cx="1025624" cy="1025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IntelliJ IDEA — Википедия">
            <a:extLst>
              <a:ext uri="{FF2B5EF4-FFF2-40B4-BE49-F238E27FC236}">
                <a16:creationId xmlns:a16="http://schemas.microsoft.com/office/drawing/2014/main" id="{413D2A3D-341F-4463-9C46-9E54222DA8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47530">
            <a:off x="9653051" y="2820772"/>
            <a:ext cx="1092619" cy="1092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Gradle | Gradle Guides">
            <a:extLst>
              <a:ext uri="{FF2B5EF4-FFF2-40B4-BE49-F238E27FC236}">
                <a16:creationId xmlns:a16="http://schemas.microsoft.com/office/drawing/2014/main" id="{1F4C9045-90C2-410C-8475-E1168E05CC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885654">
            <a:off x="7145267" y="3542761"/>
            <a:ext cx="1467251" cy="1467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GitHub · GitHub">
            <a:extLst>
              <a:ext uri="{FF2B5EF4-FFF2-40B4-BE49-F238E27FC236}">
                <a16:creationId xmlns:a16="http://schemas.microsoft.com/office/drawing/2014/main" id="{B1772497-5D9C-4276-96E7-AA5E5B17A8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40009">
            <a:off x="9394795" y="4687268"/>
            <a:ext cx="1152407" cy="1152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{{ author.topic | default(project.name, true) | xmlesc }}</a:t>
            </a:r>
            <a:endParaRPr lang="ru-RU" dirty="0"/>
          </a:p>
        </p:txBody>
      </p:sp>
      <p:sp>
        <p:nvSpPr>
          <p:cNvPr id="14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{{ author.name | default('', true) | xmlesc }}</a:t>
            </a:r>
            <a:endParaRPr lang="ru-RU" dirty="0"/>
          </a:p>
        </p:txBody>
      </p:sp>
      <p:sp>
        <p:nvSpPr>
          <p:cNvPr id="15" name="Прямоугольная выноска 14"/>
          <p:cNvSpPr/>
          <p:nvPr/>
        </p:nvSpPr>
        <p:spPr>
          <a:xfrm>
            <a:off x="2185548" y="2586178"/>
            <a:ext cx="4572568" cy="1682580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Указывается выбранный инструментарий, язык и среда программирования, разработки и т.п.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Стороннике библиотеки (со ссылками, указанием авторов, версии, года и т.п.)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Контроль версий и прочее.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Обязательно эмблемы компаний, название инструмента, его назначение (тогда можно не останавливаться подробно)</a:t>
            </a:r>
          </a:p>
        </p:txBody>
      </p:sp>
    </p:spTree>
    <p:extLst>
      <p:ext uri="{BB962C8B-B14F-4D97-AF65-F5344CB8AC3E}">
        <p14:creationId xmlns:p14="http://schemas.microsoft.com/office/powerpoint/2010/main" val="1609920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777025"/>
          </a:xfrm>
        </p:spPr>
        <p:txBody>
          <a:bodyPr>
            <a:normAutofit fontScale="90000"/>
          </a:bodyPr>
          <a:lstStyle/>
          <a:p>
            <a:r>
              <a:rPr lang="ru-RU" sz="2800" dirty="0"/>
              <a:t>Архитектура приложения/системы/сервиса (схема системы, проект, диаграммы и т.п.)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Факультет компьютерных наук,</a:t>
            </a:r>
          </a:p>
          <a:p>
            <a:r>
              <a:rPr lang="ru-RU" dirty="0"/>
              <a:t>ОП «{{ project.meta.specialization | default('Системная и программная инженерия', true) | xmlesc }}»</a:t>
            </a:r>
          </a:p>
        </p:txBody>
      </p:sp>
      <p:sp>
        <p:nvSpPr>
          <p:cNvPr id="13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{{ author.topic | default(project.name, true) | xmlesc }}</a:t>
            </a:r>
            <a:endParaRPr lang="ru-RU" dirty="0"/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{{ author.name | default('', true) | xmlesc }}</a:t>
            </a:r>
            <a:endParaRPr lang="ru-RU" dirty="0"/>
          </a:p>
        </p:txBody>
      </p:sp>
      <p:sp>
        <p:nvSpPr>
          <p:cNvPr id="17" name="Прямоугольная выноска 16"/>
          <p:cNvSpPr/>
          <p:nvPr/>
        </p:nvSpPr>
        <p:spPr>
          <a:xfrm>
            <a:off x="2189830" y="2715776"/>
            <a:ext cx="7948291" cy="2501411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Отражается архитектура программной системы в любом из известных архитектурных шаблонов.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На схеме надо показать крупно последовательность работы программы. Выделите, где используются библиотеки.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Или может быть карта процессов, системный ландшафт, 4-х контекстная диаграмма, пользовательские сценарии, сценарии взаимодействия подсистем в системе.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Используйте известные нотации для описания.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САМОЕ ГЛАВНОЕ: выделите те компоненты, разработку которых реализовали именно ВЫ!!!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Самый частый вопрос на защите после вашего доклада, в котором вы рассказываете о методах, алгоритмах, потом об использованных библиотеках: «А что же сделали именно вы?», «Какой Ваш вклад в разработанное решение?»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34635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777025"/>
          </a:xfrm>
        </p:spPr>
        <p:txBody>
          <a:bodyPr/>
          <a:lstStyle/>
          <a:p>
            <a:r>
              <a:rPr lang="ru-RU" sz="2800" dirty="0"/>
              <a:t>Входные и выходные данные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Факультет компьютерных наук,</a:t>
            </a:r>
          </a:p>
          <a:p>
            <a:r>
              <a:rPr lang="ru-RU" dirty="0"/>
              <a:t>ОП «{{ project.meta.specialization | default('Системная и программная инженерия', true) | xmlesc }}»</a:t>
            </a:r>
          </a:p>
        </p:txBody>
      </p:sp>
      <p:sp>
        <p:nvSpPr>
          <p:cNvPr id="10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{{ author.topic | default(project.name, true) | xmlesc }}</a:t>
            </a:r>
            <a:endParaRPr lang="ru-RU" dirty="0"/>
          </a:p>
        </p:txBody>
      </p:sp>
      <p:sp>
        <p:nvSpPr>
          <p:cNvPr id="12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{{ author.name | default('', true) | xmlesc }}</a:t>
            </a:r>
            <a:endParaRPr lang="ru-RU" dirty="0"/>
          </a:p>
        </p:txBody>
      </p:sp>
      <p:sp>
        <p:nvSpPr>
          <p:cNvPr id="14" name="Прямоугольная выноска 13"/>
          <p:cNvSpPr/>
          <p:nvPr/>
        </p:nvSpPr>
        <p:spPr>
          <a:xfrm>
            <a:off x="3090497" y="2715776"/>
            <a:ext cx="5659077" cy="1648557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Если вам есть что сказать по входным-выходным данным, напишите тоже.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Например – подготовка входных данных для алгоритма ХХХ заключается в следующем.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Или – модели были получены из </a:t>
            </a:r>
            <a:r>
              <a:rPr lang="ru-RU" sz="1200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репозитория</a:t>
            </a:r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ХХХ (ссылка, автор и пр.).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Или диаграмма потоков данных.</a:t>
            </a:r>
          </a:p>
        </p:txBody>
      </p:sp>
    </p:spTree>
    <p:extLst>
      <p:ext uri="{BB962C8B-B14F-4D97-AF65-F5344CB8AC3E}">
        <p14:creationId xmlns:p14="http://schemas.microsoft.com/office/powerpoint/2010/main" val="34226480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777025"/>
          </a:xfrm>
        </p:spPr>
        <p:txBody>
          <a:bodyPr>
            <a:normAutofit/>
          </a:bodyPr>
          <a:lstStyle/>
          <a:p>
            <a:r>
              <a:rPr lang="ru-RU" sz="2800" dirty="0"/>
              <a:t>Особенности программной реализации, испытания/тестирование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Факультет компьютерных наук,</a:t>
            </a:r>
          </a:p>
          <a:p>
            <a:r>
              <a:rPr lang="ru-RU" dirty="0"/>
              <a:t>ОП «{{ project.meta.specialization | default('Системная и программная инженерия', true) | xmlesc }}»</a:t>
            </a:r>
          </a:p>
        </p:txBody>
      </p:sp>
      <p:sp>
        <p:nvSpPr>
          <p:cNvPr id="13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{{ author.topic | default(project.name, true) | xmlesc }}</a:t>
            </a:r>
            <a:endParaRPr lang="ru-RU" dirty="0"/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{{ author.name | default('', true) | xmlesc }}</a:t>
            </a:r>
            <a:endParaRPr lang="ru-RU" dirty="0"/>
          </a:p>
        </p:txBody>
      </p:sp>
      <p:sp>
        <p:nvSpPr>
          <p:cNvPr id="17" name="Прямоугольная выноска 16"/>
          <p:cNvSpPr/>
          <p:nvPr/>
        </p:nvSpPr>
        <p:spPr>
          <a:xfrm>
            <a:off x="3594697" y="3033347"/>
            <a:ext cx="5138558" cy="1616737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Отражаются особенности программной реализации, тестирования, испытаний и вашего решения.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Может быть несколько слайдов.</a:t>
            </a:r>
          </a:p>
        </p:txBody>
      </p:sp>
    </p:spTree>
    <p:extLst>
      <p:ext uri="{BB962C8B-B14F-4D97-AF65-F5344CB8AC3E}">
        <p14:creationId xmlns:p14="http://schemas.microsoft.com/office/powerpoint/2010/main" val="26708245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1145941"/>
          </a:xfrm>
        </p:spPr>
        <p:txBody>
          <a:bodyPr>
            <a:normAutofit fontScale="90000"/>
          </a:bodyPr>
          <a:lstStyle/>
          <a:p>
            <a:r>
              <a:rPr lang="ru-RU" sz="2800" dirty="0"/>
              <a:t>Вычислительный эксперимент</a:t>
            </a:r>
            <a:br>
              <a:rPr lang="ru-RU" sz="2800" dirty="0"/>
            </a:br>
            <a:r>
              <a:rPr lang="ru-RU" sz="2800" dirty="0"/>
              <a:t>или</a:t>
            </a:r>
            <a:br>
              <a:rPr lang="ru-RU" sz="2800" dirty="0"/>
            </a:br>
            <a:r>
              <a:rPr lang="ru-RU" sz="2800" dirty="0"/>
              <a:t>Оценивание качества работы ХХХ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Факультет компьютерных наук,</a:t>
            </a:r>
          </a:p>
          <a:p>
            <a:r>
              <a:rPr lang="ru-RU" dirty="0"/>
              <a:t>ОП «{{ project.meta.specialization | default('Системная и программная инженерия', true) | xmlesc }}»</a:t>
            </a:r>
          </a:p>
        </p:txBody>
      </p:sp>
      <p:sp>
        <p:nvSpPr>
          <p:cNvPr id="10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{{ author.topic | default(project.name, true) | xmlesc }}</a:t>
            </a:r>
            <a:endParaRPr lang="ru-RU" dirty="0"/>
          </a:p>
        </p:txBody>
      </p:sp>
      <p:sp>
        <p:nvSpPr>
          <p:cNvPr id="12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{{ author.name | default('', true) | xmlesc }}</a:t>
            </a:r>
            <a:endParaRPr lang="ru-RU" dirty="0"/>
          </a:p>
        </p:txBody>
      </p:sp>
      <p:sp>
        <p:nvSpPr>
          <p:cNvPr id="14" name="Прямоугольная выноска 13"/>
          <p:cNvSpPr/>
          <p:nvPr/>
        </p:nvSpPr>
        <p:spPr>
          <a:xfrm>
            <a:off x="3182816" y="3288323"/>
            <a:ext cx="5659077" cy="1717849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ОПИСАНИЕ МЕТОДИКИ ИССЛЕДОВАНИЙ, экспериментов и прочее (для исследовательских проектов)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 План эксперимента.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2. Исходные данные для проведения эксперимента.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3. Выходные данные эксперимента, методика их обработки, метрики, с чем сравниваются полученные результаты и прочее.</a:t>
            </a:r>
          </a:p>
        </p:txBody>
      </p:sp>
    </p:spTree>
    <p:extLst>
      <p:ext uri="{BB962C8B-B14F-4D97-AF65-F5344CB8AC3E}">
        <p14:creationId xmlns:p14="http://schemas.microsoft.com/office/powerpoint/2010/main" val="5697019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626577"/>
            <a:ext cx="11156159" cy="509954"/>
          </a:xfrm>
        </p:spPr>
        <p:txBody>
          <a:bodyPr>
            <a:normAutofit/>
          </a:bodyPr>
          <a:lstStyle/>
          <a:p>
            <a:r>
              <a:rPr lang="ru-RU" sz="2800" dirty="0"/>
              <a:t>Основные результаты работы (демонстрация)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Факультет компьютерных наук,</a:t>
            </a:r>
          </a:p>
          <a:p>
            <a:r>
              <a:rPr lang="ru-RU" dirty="0"/>
              <a:t>ОП «{{ project.meta.specialization | default('Системная и программная инженерия', true) | xmlesc }}»</a:t>
            </a:r>
          </a:p>
        </p:txBody>
      </p:sp>
      <p:sp>
        <p:nvSpPr>
          <p:cNvPr id="10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{{ author.topic | default(project.name, true) | xmlesc }}</a:t>
            </a:r>
            <a:endParaRPr lang="ru-RU" dirty="0"/>
          </a:p>
        </p:txBody>
      </p:sp>
      <p:sp>
        <p:nvSpPr>
          <p:cNvPr id="12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{{ author.name | default('', true) | xmlesc }}</a:t>
            </a:r>
            <a:endParaRPr lang="ru-RU" dirty="0"/>
          </a:p>
        </p:txBody>
      </p:sp>
      <p:sp>
        <p:nvSpPr>
          <p:cNvPr id="14" name="Прямоугольная выноска 13"/>
          <p:cNvSpPr/>
          <p:nvPr/>
        </p:nvSpPr>
        <p:spPr>
          <a:xfrm>
            <a:off x="3182816" y="2798463"/>
            <a:ext cx="5659077" cy="2207709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МОЖЕТ БЫТЬ ДЕМОНСТРАЦИЯ ПРОГРАММНОГО ПРОДУКТА, 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РЕЗУЛЬТАТЫ ИССЛЕДОВАНИЙ, ЭКСПЕРИМЕНТОВ  И ПРОЧЕЕ.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МОЖЕТ БЫТЬ НЕСКОЛЬКО СЛАЙДОВ.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ВАЖНО, ЧТОБЫ РЕЗУЛЬТАТЫ СООТВЕТСТВОВАЛИ ПОСТАВЛЕННЫМ ЗАДАЧАМ!!!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В описании результатов можете повторить задачи, но добавить по 1-3 предложения, описывающие полученные в курсовом проекте результаты по каждой задаче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70278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626577"/>
            <a:ext cx="11156159" cy="509954"/>
          </a:xfrm>
        </p:spPr>
        <p:txBody>
          <a:bodyPr>
            <a:normAutofit/>
          </a:bodyPr>
          <a:lstStyle/>
          <a:p>
            <a:r>
              <a:rPr lang="ru-RU" sz="2800" dirty="0"/>
              <a:t>Апробация работы (если есть)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Факультет компьютерных наук,</a:t>
            </a:r>
          </a:p>
          <a:p>
            <a:r>
              <a:rPr lang="ru-RU" dirty="0"/>
              <a:t>ОП «{{ project.meta.specialization | default('Системная и программная инженерия', true) | xmlesc }}»</a:t>
            </a:r>
          </a:p>
        </p:txBody>
      </p:sp>
      <p:sp>
        <p:nvSpPr>
          <p:cNvPr id="10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{{ author.topic | default(project.name, true) | xmlesc }}</a:t>
            </a:r>
            <a:endParaRPr lang="ru-RU" dirty="0"/>
          </a:p>
        </p:txBody>
      </p:sp>
      <p:sp>
        <p:nvSpPr>
          <p:cNvPr id="12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{{ author.name | default('', true) | xmlesc }}</a:t>
            </a:r>
            <a:endParaRPr lang="ru-RU" dirty="0"/>
          </a:p>
        </p:txBody>
      </p:sp>
      <p:sp>
        <p:nvSpPr>
          <p:cNvPr id="14" name="Прямоугольная выноска 13"/>
          <p:cNvSpPr/>
          <p:nvPr/>
        </p:nvSpPr>
        <p:spPr>
          <a:xfrm>
            <a:off x="3182816" y="2798463"/>
            <a:ext cx="5659077" cy="2207709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Может быть:</a:t>
            </a:r>
          </a:p>
          <a:p>
            <a:pPr marL="228600" lvl="0" indent="-228600">
              <a:lnSpc>
                <a:spcPct val="150000"/>
              </a:lnSpc>
              <a:buAutoNum type="arabicPeriod"/>
            </a:pPr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Выступления на конференциях, тезисы докладов</a:t>
            </a:r>
          </a:p>
          <a:p>
            <a:pPr marL="228600" lvl="0" indent="-228600">
              <a:lnSpc>
                <a:spcPct val="150000"/>
              </a:lnSpc>
              <a:buAutoNum type="arabicPeriod"/>
            </a:pPr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Публикации, статьи</a:t>
            </a:r>
          </a:p>
          <a:p>
            <a:pPr marL="228600" lvl="0" indent="-228600">
              <a:lnSpc>
                <a:spcPct val="150000"/>
              </a:lnSpc>
              <a:buAutoNum type="arabicPeriod"/>
            </a:pPr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Внедрение (акт или справка о внедрении, ссылка на ресурс, магазин приложений и т.п.)</a:t>
            </a:r>
          </a:p>
          <a:p>
            <a:pPr marL="228600" lvl="0" indent="-228600">
              <a:lnSpc>
                <a:spcPct val="150000"/>
              </a:lnSpc>
              <a:buAutoNum type="arabicPeriod"/>
            </a:pPr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Свидетельства о регистрации программы в </a:t>
            </a:r>
            <a:r>
              <a:rPr lang="ru-RU" sz="1200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РОСПАТЕНТе</a:t>
            </a:r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(скан)</a:t>
            </a:r>
          </a:p>
        </p:txBody>
      </p:sp>
    </p:spTree>
    <p:extLst>
      <p:ext uri="{BB962C8B-B14F-4D97-AF65-F5344CB8AC3E}">
        <p14:creationId xmlns:p14="http://schemas.microsoft.com/office/powerpoint/2010/main" val="41775451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626577"/>
            <a:ext cx="11156159" cy="509954"/>
          </a:xfrm>
        </p:spPr>
        <p:txBody>
          <a:bodyPr>
            <a:normAutofit/>
          </a:bodyPr>
          <a:lstStyle/>
          <a:p>
            <a:r>
              <a:rPr lang="ru-RU" sz="2800" dirty="0"/>
              <a:t>Научная новизна / практическая значимость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Факультет компьютерных наук,</a:t>
            </a:r>
          </a:p>
          <a:p>
            <a:r>
              <a:rPr lang="ru-RU" dirty="0"/>
              <a:t>ОП «{{ project.meta.specialization | default('Системная и программная инженерия', true) | xmlesc }}»</a:t>
            </a:r>
          </a:p>
        </p:txBody>
      </p:sp>
      <p:sp>
        <p:nvSpPr>
          <p:cNvPr id="10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{{ author.topic | default(project.name, true) | xmlesc }}</a:t>
            </a:r>
            <a:endParaRPr lang="ru-RU" dirty="0"/>
          </a:p>
        </p:txBody>
      </p:sp>
      <p:sp>
        <p:nvSpPr>
          <p:cNvPr id="12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{{ author.name | default('', true) | xmlesc }}</a:t>
            </a:r>
            <a:endParaRPr lang="ru-RU" dirty="0"/>
          </a:p>
        </p:txBody>
      </p:sp>
      <p:sp>
        <p:nvSpPr>
          <p:cNvPr id="14" name="Прямоугольная выноска 13"/>
          <p:cNvSpPr/>
          <p:nvPr/>
        </p:nvSpPr>
        <p:spPr>
          <a:xfrm>
            <a:off x="1257300" y="2798463"/>
            <a:ext cx="7584593" cy="2207709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Научная новизна (может не быть)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Описываете новый научный результат.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Практическая значимость (может не быть)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Описываете практическую значимость разработки, что улучшает, что нового привносит и т.п.</a:t>
            </a:r>
          </a:p>
        </p:txBody>
      </p:sp>
    </p:spTree>
    <p:extLst>
      <p:ext uri="{BB962C8B-B14F-4D97-AF65-F5344CB8AC3E}">
        <p14:creationId xmlns:p14="http://schemas.microsoft.com/office/powerpoint/2010/main" val="30715037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626577"/>
            <a:ext cx="11156159" cy="509954"/>
          </a:xfrm>
        </p:spPr>
        <p:txBody>
          <a:bodyPr>
            <a:normAutofit/>
          </a:bodyPr>
          <a:lstStyle/>
          <a:p>
            <a:r>
              <a:rPr lang="ru-RU" sz="2800" dirty="0"/>
              <a:t>Пути дальнейшей работы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Факультет компьютерных наук,</a:t>
            </a:r>
          </a:p>
          <a:p>
            <a:r>
              <a:rPr lang="ru-RU" dirty="0"/>
              <a:t>ОП «{{ project.meta.specialization | default('Системная и программная инженерия', true) | xmlesc }}»</a:t>
            </a:r>
          </a:p>
        </p:txBody>
      </p:sp>
      <p:sp>
        <p:nvSpPr>
          <p:cNvPr id="10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{{ author.topic | default(project.name, true) | xmlesc }}</a:t>
            </a:r>
            <a:endParaRPr lang="ru-RU" dirty="0"/>
          </a:p>
        </p:txBody>
      </p:sp>
      <p:sp>
        <p:nvSpPr>
          <p:cNvPr id="12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{{ author.name | default('', true) | xmlesc }}</a:t>
            </a:r>
            <a:endParaRPr lang="ru-RU" dirty="0"/>
          </a:p>
        </p:txBody>
      </p:sp>
      <p:sp>
        <p:nvSpPr>
          <p:cNvPr id="14" name="Прямоугольная выноска 13"/>
          <p:cNvSpPr/>
          <p:nvPr/>
        </p:nvSpPr>
        <p:spPr>
          <a:xfrm>
            <a:off x="1257300" y="2798463"/>
            <a:ext cx="7584593" cy="2207709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Пути дальнейшей работы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Если работа полезная и нужная, ее можно развивать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Если нет – то нет путей дальнейшей работы.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Обязательно напишите здесь несколько пунктов</a:t>
            </a:r>
          </a:p>
        </p:txBody>
      </p:sp>
    </p:spTree>
    <p:extLst>
      <p:ext uri="{BB962C8B-B14F-4D97-AF65-F5344CB8AC3E}">
        <p14:creationId xmlns:p14="http://schemas.microsoft.com/office/powerpoint/2010/main" val="29939541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777025"/>
          </a:xfrm>
        </p:spPr>
        <p:txBody>
          <a:bodyPr/>
          <a:lstStyle/>
          <a:p>
            <a:r>
              <a:rPr lang="ru-RU" dirty="0"/>
              <a:t>Список источников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7" y="3001840"/>
            <a:ext cx="10935543" cy="3161215"/>
          </a:xfrm>
        </p:spPr>
        <p:txBody>
          <a:bodyPr>
            <a:normAutofit/>
          </a:bodyPr>
          <a:lstStyle/>
          <a:p>
            <a:r>
              <a:rPr lang="en-US" dirty="0"/>
              <a:t>[1] Hatton, L. (2004). Safer language subsets: an overview and a case</a:t>
            </a:r>
            <a:r>
              <a:rPr lang="ru-RU" dirty="0"/>
              <a:t> </a:t>
            </a:r>
            <a:r>
              <a:rPr lang="en-US" dirty="0"/>
              <a:t>history, MISRA C. Information and Software Technology, 46(7), 465-472.</a:t>
            </a:r>
          </a:p>
          <a:p>
            <a:r>
              <a:rPr lang="en-US" dirty="0"/>
              <a:t>[2] Dijkstra, E. W. (1968). Letters to the editor: go to statement considered</a:t>
            </a:r>
            <a:r>
              <a:rPr lang="ru-RU" dirty="0"/>
              <a:t> </a:t>
            </a:r>
            <a:r>
              <a:rPr lang="en-US" dirty="0"/>
              <a:t>harmful. Communications of the ACM, 11(3), 147-148.</a:t>
            </a:r>
          </a:p>
          <a:p>
            <a:r>
              <a:rPr lang="en-US" dirty="0"/>
              <a:t>[3] Knuth, D. E. (1974). Structured programming with go to statements.</a:t>
            </a:r>
            <a:r>
              <a:rPr lang="ru-RU" dirty="0"/>
              <a:t> </a:t>
            </a:r>
            <a:br>
              <a:rPr lang="ru-RU" dirty="0"/>
            </a:br>
            <a:r>
              <a:rPr lang="en-US" dirty="0"/>
              <a:t>ACM Computing Surveys (CSUR), 6(4), 261-301.</a:t>
            </a:r>
          </a:p>
          <a:p>
            <a:r>
              <a:rPr lang="en-US" dirty="0"/>
              <a:t>[4] Williams, M. H., &amp; Chen, G. (1985). Restructuring pascal programs</a:t>
            </a:r>
            <a:r>
              <a:rPr lang="ru-RU" dirty="0"/>
              <a:t> </a:t>
            </a:r>
            <a:r>
              <a:rPr lang="en-US" dirty="0"/>
              <a:t>containing </a:t>
            </a:r>
            <a:r>
              <a:rPr lang="en-US" dirty="0" err="1"/>
              <a:t>goto</a:t>
            </a:r>
            <a:r>
              <a:rPr lang="en-US" dirty="0"/>
              <a:t> statements. The Computer Journal, 28(2), 134-137.</a:t>
            </a:r>
          </a:p>
          <a:p>
            <a:r>
              <a:rPr lang="en-US" dirty="0"/>
              <a:t>[5] </a:t>
            </a:r>
            <a:r>
              <a:rPr lang="en-US" dirty="0" err="1"/>
              <a:t>Ceccato</a:t>
            </a:r>
            <a:r>
              <a:rPr lang="en-US" dirty="0"/>
              <a:t>, M., </a:t>
            </a:r>
            <a:r>
              <a:rPr lang="en-US" dirty="0" err="1"/>
              <a:t>Tonella</a:t>
            </a:r>
            <a:r>
              <a:rPr lang="en-US" dirty="0"/>
              <a:t>, P., &amp; </a:t>
            </a:r>
            <a:r>
              <a:rPr lang="en-US" dirty="0" err="1"/>
              <a:t>Matteotti</a:t>
            </a:r>
            <a:r>
              <a:rPr lang="en-US" dirty="0"/>
              <a:t>, C. (2008, April). </a:t>
            </a:r>
            <a:r>
              <a:rPr lang="en-US" dirty="0" err="1"/>
              <a:t>Goto</a:t>
            </a:r>
            <a:r>
              <a:rPr lang="en-US" dirty="0"/>
              <a:t> elimination</a:t>
            </a:r>
            <a:r>
              <a:rPr lang="ru-RU" dirty="0"/>
              <a:t> </a:t>
            </a:r>
            <a:r>
              <a:rPr lang="en-US" dirty="0"/>
              <a:t>strategies in the migration of legacy code to Java. In 2008 12th European</a:t>
            </a:r>
            <a:r>
              <a:rPr lang="ru-RU" dirty="0"/>
              <a:t> </a:t>
            </a:r>
            <a:br>
              <a:rPr lang="ru-RU" dirty="0"/>
            </a:br>
            <a:r>
              <a:rPr lang="en-US" dirty="0"/>
              <a:t>Conference on Software Maintenance and Reengineering (pp. 53-62).</a:t>
            </a:r>
            <a:r>
              <a:rPr lang="ru-RU" dirty="0"/>
              <a:t> </a:t>
            </a:r>
            <a:r>
              <a:rPr lang="en-US" dirty="0"/>
              <a:t>IEEE.</a:t>
            </a:r>
          </a:p>
          <a:p>
            <a:r>
              <a:rPr lang="en-US" dirty="0"/>
              <a:t>[6] </a:t>
            </a:r>
            <a:r>
              <a:rPr lang="en-US" dirty="0" err="1"/>
              <a:t>Böhm</a:t>
            </a:r>
            <a:r>
              <a:rPr lang="en-US" dirty="0"/>
              <a:t>, C., &amp; </a:t>
            </a:r>
            <a:r>
              <a:rPr lang="en-US" dirty="0" err="1"/>
              <a:t>Jacopini</a:t>
            </a:r>
            <a:r>
              <a:rPr lang="en-US" dirty="0"/>
              <a:t>, G. (1966). Flow diagrams, Turing machines and languages with only two formation rules. Communications of the ACM, 9(5), 366-371.</a:t>
            </a:r>
          </a:p>
          <a:p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Факультет компьютерных наук,</a:t>
            </a:r>
          </a:p>
          <a:p>
            <a:r>
              <a:rPr lang="ru-RU" dirty="0"/>
              <a:t>ОП «{{ project.meta.specialization | default('Системная и программная инженерия', true) | xmlesc }}»</a:t>
            </a:r>
          </a:p>
        </p:txBody>
      </p:sp>
      <p:sp>
        <p:nvSpPr>
          <p:cNvPr id="8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{{ author.name | default('', true) | xmlesc }}</a:t>
            </a:r>
            <a:endParaRPr lang="ru-RU" dirty="0"/>
          </a:p>
        </p:txBody>
      </p:sp>
      <p:sp>
        <p:nvSpPr>
          <p:cNvPr id="11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{{ author.topic | default(project.name, true) | xmlesc }}</a:t>
            </a:r>
            <a:endParaRPr lang="ru-RU" dirty="0"/>
          </a:p>
        </p:txBody>
      </p:sp>
      <p:sp>
        <p:nvSpPr>
          <p:cNvPr id="12" name="Прямоугольная выноска 11"/>
          <p:cNvSpPr/>
          <p:nvPr/>
        </p:nvSpPr>
        <p:spPr>
          <a:xfrm>
            <a:off x="4139843" y="1818461"/>
            <a:ext cx="5461251" cy="812708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Это некоторый образец списка.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Оформите в соответствии с ГОСТ.</a:t>
            </a:r>
          </a:p>
        </p:txBody>
      </p:sp>
    </p:spTree>
    <p:extLst>
      <p:ext uri="{BB962C8B-B14F-4D97-AF65-F5344CB8AC3E}">
        <p14:creationId xmlns:p14="http://schemas.microsoft.com/office/powerpoint/2010/main" val="13935543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2014718"/>
            <a:ext cx="11156159" cy="777025"/>
          </a:xfrm>
        </p:spPr>
        <p:txBody>
          <a:bodyPr/>
          <a:lstStyle/>
          <a:p>
            <a:pPr algn="ctr"/>
            <a:r>
              <a:rPr lang="ru-RU" dirty="0"/>
              <a:t>Спасибо за внимание!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Факультет компьютерных наук</a:t>
            </a:r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C43CB66B-7797-423D-A478-A598D0BB8D4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50611" y="2812854"/>
            <a:ext cx="4226729" cy="2219169"/>
          </a:xfrm>
        </p:spPr>
        <p:txBody>
          <a:bodyPr>
            <a:normAutofit/>
          </a:bodyPr>
          <a:lstStyle/>
          <a:p>
            <a:pPr algn="ctr"/>
            <a:r>
              <a:rPr lang="en-US" sz="2000" dirty="0"/>
              <a:t>{{ author.name | default('', true) | xmlesc }},</a:t>
            </a:r>
            <a:endParaRPr lang="en-US" sz="2000" dirty="0"/>
          </a:p>
          <a:p>
            <a:pPr algn="ctr"/>
            <a:r>
              <a:rPr lang="en-US" sz="2000" dirty="0"/>
              <a:t>{{ author.topic | default(project.name, true) | xmlesc }}</a:t>
            </a:r>
          </a:p>
          <a:p>
            <a:pPr algn="ctr"/>
            <a:r>
              <a:rPr lang="en-US" sz="2000" dirty="0"/>
              <a:t>{{ author.email | default('', true) | xmlesc }}</a:t>
            </a:r>
            <a:endParaRPr lang="ru-RU" sz="2000" dirty="0"/>
          </a:p>
        </p:txBody>
      </p:sp>
      <p:sp>
        <p:nvSpPr>
          <p:cNvPr id="7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{{ author.topic | default(project.name, true) | xmlesc }}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712793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2A9C74E6E830D74E9B0FDDB4017A5417" ma:contentTypeVersion="13" ma:contentTypeDescription="Создание документа." ma:contentTypeScope="" ma:versionID="d4e423622451d608a8a05f4da7a1e1a2">
  <xsd:schema xmlns:xsd="http://www.w3.org/2001/XMLSchema" xmlns:xs="http://www.w3.org/2001/XMLSchema" xmlns:p="http://schemas.microsoft.com/office/2006/metadata/properties" xmlns:ns2="9875bd71-cde8-496c-a136-433f55d5e6d0" xmlns:ns3="e96afe77-3acb-4328-97fc-408e1bde3ecd" targetNamespace="http://schemas.microsoft.com/office/2006/metadata/properties" ma:root="true" ma:fieldsID="4831203c63c08b9f52ea6d3ee0d7a96e" ns2:_="" ns3:_="">
    <xsd:import namespace="9875bd71-cde8-496c-a136-433f55d5e6d0"/>
    <xsd:import namespace="e96afe77-3acb-4328-97fc-408e1bde3e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75bd71-cde8-496c-a136-433f55d5e6d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6afe77-3acb-4328-97fc-408e1bde3ec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33DAF31-D8A6-49A0-9A5D-8B2EA5B1C511}">
  <ds:schemaRefs>
    <ds:schemaRef ds:uri="http://purl.org/dc/dcmitype/"/>
    <ds:schemaRef ds:uri="http://purl.org/dc/terms/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9875bd71-cde8-496c-a136-433f55d5e6d0"/>
    <ds:schemaRef ds:uri="http://schemas.openxmlformats.org/package/2006/metadata/core-properties"/>
    <ds:schemaRef ds:uri="e96afe77-3acb-4328-97fc-408e1bde3ecd"/>
  </ds:schemaRefs>
</ds:datastoreItem>
</file>

<file path=customXml/itemProps2.xml><?xml version="1.0" encoding="utf-8"?>
<ds:datastoreItem xmlns:ds="http://schemas.openxmlformats.org/officeDocument/2006/customXml" ds:itemID="{4D4651DD-DCCC-4759-B2F6-7F520BDCC2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75bd71-cde8-496c-a136-433f55d5e6d0"/>
    <ds:schemaRef ds:uri="e96afe77-3acb-4328-97fc-408e1bde3ec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34386AA-1848-4C75-B336-1053927CB0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2340</TotalTime>
  <Words>2161</Words>
  <Application>Microsoft Macintosh PowerPoint</Application>
  <PresentationFormat>Widescreen</PresentationFormat>
  <Paragraphs>268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Calibri Light</vt:lpstr>
      <vt:lpstr>Consolas</vt:lpstr>
      <vt:lpstr>Courier New</vt:lpstr>
      <vt:lpstr>HSE Sans</vt:lpstr>
      <vt:lpstr>Office Theme</vt:lpstr>
      <vt:lpstr>&lt;Тема ВКР на русском языке&gt;  &lt;Тема ВКР на английском языке&gt;</vt:lpstr>
      <vt:lpstr>Описание предметной области</vt:lpstr>
      <vt:lpstr>Основные термины, понятия и определения</vt:lpstr>
      <vt:lpstr>Актуальность</vt:lpstr>
      <vt:lpstr>Цель и задачи ВКР</vt:lpstr>
      <vt:lpstr>Анализ существующих решений</vt:lpstr>
      <vt:lpstr>Функциональные требования</vt:lpstr>
      <vt:lpstr>Анализ и выбор моделей, методов и алгоритмов</vt:lpstr>
      <vt:lpstr>Алгоритмы и структуры данных</vt:lpstr>
      <vt:lpstr>Технологии и инструменты реализации</vt:lpstr>
      <vt:lpstr>Архитектура приложения/системы/сервиса (схема системы, проект, диаграммы и т.п.)</vt:lpstr>
      <vt:lpstr>Входные и выходные данные</vt:lpstr>
      <vt:lpstr>Особенности программной реализации, испытания/тестирование</vt:lpstr>
      <vt:lpstr>Вычислительный эксперимент или Оценивание качества работы ХХХ</vt:lpstr>
      <vt:lpstr>Основные результаты работы (демонстрация)</vt:lpstr>
      <vt:lpstr>Апробация работы (если есть)</vt:lpstr>
      <vt:lpstr>Научная новизна / практическая значимость</vt:lpstr>
      <vt:lpstr>Пути дальнейшей работы</vt:lpstr>
      <vt:lpstr>Список источников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Кутьков Юрий Юрьевич</dc:creator>
  <cp:lastModifiedBy>Elena Pesotskaya</cp:lastModifiedBy>
  <cp:revision>30</cp:revision>
  <cp:lastPrinted>2021-11-11T13:08:42Z</cp:lastPrinted>
  <dcterms:created xsi:type="dcterms:W3CDTF">2021-11-11T08:52:47Z</dcterms:created>
  <dcterms:modified xsi:type="dcterms:W3CDTF">2026-02-02T11:48:37Z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0x0101002A9C74E6E830D74E9B0FDDB4017A5417</vt:lpwstr>
  </property>
</Properties>
</file>