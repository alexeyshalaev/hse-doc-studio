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se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02D69"/>
                </a:solidFill>
                <a:latin typeface="Arial"/>
              </a:rPr>
              <a:t>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02D69"/>
                </a:solidFill>
                <a:latin typeface="Arial"/>
              </a:rPr>
              <a:t>{{ project.name | xmlesc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{{ project.meta.faculty_en | default('Faculty of Computer Science', true) | xmlesc }}, {{ project.meta.university_en | default('HSE University', true) | xmlesc }}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{{ project.meta.city_en | default('Moscow, Russia', true) | xmlesc }}, {{ project.meta.year | default('', true) | xmlesc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5486400"/>
            <a:ext cx="576072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 i="0">
                <a:solidFill>
                  <a:srgbClr val="102D69"/>
                </a:solidFill>
                <a:latin typeface="Arial"/>
              </a:rPr>
              <a:t>Presented by {{ project.meta.author_name_en | default('Your name in English', true) | xmlesc }}, group {{ author.group | default('', true) | xmlesc }}</a:t>
            </a:r>
          </a:p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102D69"/>
                </a:solidFill>
                <a:latin typeface="Arial"/>
              </a:rPr>
              <a:t>Supervisor: {{ project.supervisor.name | default('', true) | xmlesc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D69"/>
                </a:solidFill>
                <a:latin typeface="Arial"/>
              </a:rP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TODO: state the problem in one or two plain sentences.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pain point 1 — who suffers from it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pain point 2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why existing workarounds are not enough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D69"/>
                </a:solidFill>
                <a:latin typeface="Arial"/>
              </a:rPr>
              <a:t>Aim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02D69"/>
                </a:solidFill>
                <a:latin typeface="Arial"/>
              </a:rPr>
              <a:t>Aim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TODO: one sentence — what you build and why.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02D69"/>
                </a:solidFill>
                <a:latin typeface="Arial"/>
              </a:rPr>
              <a:t>Objectives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objective 1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objective 2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objective 3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objective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D69"/>
                </a:solidFill>
                <a:latin typeface="Arial"/>
              </a:rPr>
              <a:t>Existing Solutions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54480"/>
          <a:ext cx="10789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Tool A</a:t>
                      </a:r>
                    </a:p>
                  </a:txBody>
                  <a:tcPr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Tool B</a:t>
                      </a:r>
                    </a:p>
                  </a:txBody>
                  <a:tcPr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Proposed</a:t>
                      </a:r>
                    </a:p>
                  </a:txBody>
                  <a:tcPr>
                    <a:solidFill>
                      <a:srgbClr val="102D6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i="1">
                          <a:solidFill>
                            <a:srgbClr val="8A90A0"/>
                          </a:solidFill>
                          <a:latin typeface="Arial"/>
                        </a:rPr>
                        <a:t>TODO: criterion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0">
                          <a:solidFill>
                            <a:srgbClr val="111111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0">
                          <a:solidFill>
                            <a:srgbClr val="11111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0">
                          <a:solidFill>
                            <a:srgbClr val="111111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i="1">
                          <a:solidFill>
                            <a:srgbClr val="8A90A0"/>
                          </a:solidFill>
                          <a:latin typeface="Arial"/>
                        </a:rPr>
                        <a:t>TODO: criterion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0">
                          <a:solidFill>
                            <a:srgbClr val="11111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0">
                          <a:solidFill>
                            <a:srgbClr val="111111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0">
                          <a:solidFill>
                            <a:srgbClr val="111111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i="1">
                          <a:solidFill>
                            <a:srgbClr val="8A90A0"/>
                          </a:solidFill>
                          <a:latin typeface="Arial"/>
                        </a:rPr>
                        <a:t>TODO: criterion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0">
                          <a:solidFill>
                            <a:srgbClr val="11111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0">
                          <a:solidFill>
                            <a:srgbClr val="11111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0">
                          <a:solidFill>
                            <a:srgbClr val="111111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937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02D69"/>
                </a:solidFill>
                <a:latin typeface="Arial"/>
              </a:rPr>
              <a:t>Takeaway</a:t>
            </a:r>
          </a:p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8A90A0"/>
                </a:solidFill>
                <a:latin typeface="Arial"/>
              </a:rPr>
              <a:t>TODO: why a new solution is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D69"/>
                </a:solidFill>
                <a:latin typeface="Arial"/>
              </a:rP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TODO: one sentence — the essence of your approach.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key component or idea 1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key component or idea 2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key component or idea 3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TODO: replace this list with an architecture diagram if you have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D69"/>
                </a:solidFill>
                <a:latin typeface="Arial"/>
              </a:rPr>
              <a:t>Methodology and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hypothesis and how it will be validated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metrics you will measure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languages, frameworks, data and infrastructure (and where they come from)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experiment or testbed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D69"/>
                </a:solidFill>
                <a:latin typeface="Arial"/>
              </a:rPr>
              <a:t>Work Plan and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02D69"/>
                </a:solidFill>
                <a:latin typeface="Arial"/>
              </a:rPr>
              <a:t>Done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TODO: research, design, foundation already completed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02D69"/>
                </a:solidFill>
                <a:latin typeface="Arial"/>
              </a:rPr>
              <a:t>Now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TODO: what you are implementing at the moment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02D69"/>
                </a:solidFill>
                <a:latin typeface="Arial"/>
              </a:rPr>
              <a:t>Next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TODO: remaining steps until the thesis defence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D69"/>
                </a:solidFill>
                <a:latin typeface="Arial"/>
              </a:rPr>
              <a:t>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main deliverable, e.g. a working prototype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secondary results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how success will be measured (and what would falsify the hypothesis)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D69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TODO: restate the core idea of the project in one sentence.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why the result matters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future work after the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D69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[1] Author, Title, Publisher, Year (IEEE style).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[2] Author, “Paper title,” Journal, vol., no., pp., Year.</a:t>
            </a:r>
          </a:p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8A90A0"/>
                </a:solidFill>
                <a:latin typeface="Arial"/>
              </a:rPr>
              <a:t>•  [3] Title, Website, Year. [Online]. Available: URL. [Accessed: date].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102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800"/>
              </a:spcAft>
            </a:pPr>
            <a:r>
              <a:rPr sz="3600" b="1" i="0">
                <a:solidFill>
                  <a:srgbClr val="102D69"/>
                </a:solidFill>
                <a:latin typeface="Arial"/>
              </a:rPr>
              <a:t>Thank you for your attention!</a:t>
            </a:r>
          </a:p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102D69"/>
                </a:solidFill>
                <a:latin typeface="Arial"/>
              </a:rPr>
              <a:t>{{ project.meta.author_name_en | default('', true) | xmlesc }}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Arial"/>
              </a:rPr>
              <a:t>{{ author.email | default('', true) | xmlesc }}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{{ project.name | xmlesc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