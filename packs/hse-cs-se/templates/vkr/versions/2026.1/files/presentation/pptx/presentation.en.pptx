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4" r:id="rId4"/>
  </p:sldMasterIdLst>
  <p:notesMasterIdLst>
    <p:notesMasterId r:id="rId25"/>
  </p:notesMasterIdLst>
  <p:sldIdLst>
    <p:sldId id="271" r:id="rId5"/>
    <p:sldId id="272" r:id="rId6"/>
    <p:sldId id="289" r:id="rId7"/>
    <p:sldId id="290" r:id="rId8"/>
    <p:sldId id="291" r:id="rId9"/>
    <p:sldId id="292" r:id="rId10"/>
    <p:sldId id="293" r:id="rId11"/>
    <p:sldId id="296" r:id="rId12"/>
    <p:sldId id="307" r:id="rId13"/>
    <p:sldId id="297" r:id="rId14"/>
    <p:sldId id="303" r:id="rId15"/>
    <p:sldId id="306" r:id="rId16"/>
    <p:sldId id="308" r:id="rId17"/>
    <p:sldId id="309" r:id="rId18"/>
    <p:sldId id="310" r:id="rId19"/>
    <p:sldId id="311" r:id="rId20"/>
    <p:sldId id="312" r:id="rId21"/>
    <p:sldId id="313" r:id="rId22"/>
    <p:sldId id="301" r:id="rId23"/>
    <p:sldId id="304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>
    <p:extLst>
      <p:ext uri="{19B8F6BF-5375-455C-9EA6-DF929625EA0E}">
        <p15:presenceInfo xmlns:p15="http://schemas.microsoft.com/office/powerpoint/2012/main" userId="S::ykutkov@hse.ru::45dbd1ed-eea1-4925-9fa4-5001421b49da" providerId="AD"/>
      </p:ext>
    </p:extLst>
  </p:cmAuthor>
  <p:cmAuthor id="2" name="Лебедев Сергей Аркадьевич" initials="ЛСА" lastIdx="4" clrIdx="1">
    <p:extLst>
      <p:ext uri="{19B8F6BF-5375-455C-9EA6-DF929625EA0E}">
        <p15:presenceInfo xmlns:p15="http://schemas.microsoft.com/office/powerpoint/2012/main" userId="S-1-5-21-3674890872-1406439013-3720264777-4884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9C63"/>
    <a:srgbClr val="96628C"/>
    <a:srgbClr val="11A0D7"/>
    <a:srgbClr val="E61F3D"/>
    <a:srgbClr val="CD5A5A"/>
    <a:srgbClr val="FFD746"/>
    <a:srgbClr val="0E2D69"/>
    <a:srgbClr val="D9D9D9"/>
    <a:srgbClr val="EB681F"/>
    <a:srgbClr val="234A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C21501-8AC7-D24B-9BD4-4AB280FA19DE}" v="6" dt="2021-11-26T18:08:21.5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18" autoAdjust="0"/>
    <p:restoredTop sz="94726"/>
  </p:normalViewPr>
  <p:slideViewPr>
    <p:cSldViewPr snapToGrid="0" snapToObjects="1">
      <p:cViewPr varScale="1">
        <p:scale>
          <a:sx n="98" d="100"/>
          <a:sy n="98" d="100"/>
        </p:scale>
        <p:origin x="72" y="96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3-05-30T17:07:20.976" idx="1">
    <p:pos x="4697" y="3010"/>
    <p:text>Если официального соруководителя нет, то убрать.</p:text>
    <p:extLst>
      <p:ext uri="{C676402C-5697-4E1C-873F-D02D1690AC5C}">
        <p15:threadingInfo xmlns:p15="http://schemas.microsoft.com/office/powerpoint/2012/main" timeZoneBias="-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en-RU" smtClean="0"/>
              <a:t>07/20/2026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4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08992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07/20/2026</a:t>
            </a:fld>
            <a:endParaRPr lang="en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559546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07/20/2026</a:t>
            </a:fld>
            <a:endParaRPr lang="en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6359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07/20/2026</a:t>
            </a:fld>
            <a:endParaRPr lang="en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625032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07/20/2026</a:t>
            </a:fld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837556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07/20/2026</a:t>
            </a:fld>
            <a:endParaRPr lang="en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102553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07/20/2026</a:t>
            </a:fld>
            <a:endParaRPr lang="en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51286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07/20/2026</a:t>
            </a:fld>
            <a:endParaRPr lang="en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991926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07/20/2026</a:t>
            </a:fld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808927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07/20/2026</a:t>
            </a:fld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064661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07/20/2026</a:t>
            </a:fld>
            <a:endParaRPr lang="en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762953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07/20/2026</a:t>
            </a:fld>
            <a:endParaRPr lang="en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462818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cxnSp>
        <p:nvCxnSpPr>
          <p:cNvPr id="11" name="Straight Connector 48">
            <a:extLst>
              <a:ext uri="{FF2B5EF4-FFF2-40B4-BE49-F238E27FC236}">
                <a16:creationId xmlns:a16="http://schemas.microsoft.com/office/drawing/2014/main" id="{313EF906-5BAC-0141-A198-076E155DF9E2}"/>
              </a:ext>
            </a:extLst>
          </p:cNvPr>
          <p:cNvCxnSpPr>
            <a:cxnSpLocks/>
          </p:cNvCxnSpPr>
          <p:nvPr userDrawn="1"/>
        </p:nvCxnSpPr>
        <p:spPr>
          <a:xfrm>
            <a:off x="6090212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0">
            <a:extLst>
              <a:ext uri="{FF2B5EF4-FFF2-40B4-BE49-F238E27FC236}">
                <a16:creationId xmlns:a16="http://schemas.microsoft.com/office/drawing/2014/main" id="{61206A97-26F2-E646-8775-9928FEF465B5}"/>
              </a:ext>
            </a:extLst>
          </p:cNvPr>
          <p:cNvCxnSpPr>
            <a:cxnSpLocks/>
          </p:cNvCxnSpPr>
          <p:nvPr userDrawn="1"/>
        </p:nvCxnSpPr>
        <p:spPr>
          <a:xfrm>
            <a:off x="8642581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1">
            <a:extLst>
              <a:ext uri="{FF2B5EF4-FFF2-40B4-BE49-F238E27FC236}">
                <a16:creationId xmlns:a16="http://schemas.microsoft.com/office/drawing/2014/main" id="{28E0E5F6-C1CA-9B41-B1DB-6E4FB509084D}"/>
              </a:ext>
            </a:extLst>
          </p:cNvPr>
          <p:cNvCxnSpPr>
            <a:cxnSpLocks/>
          </p:cNvCxnSpPr>
          <p:nvPr userDrawn="1"/>
        </p:nvCxnSpPr>
        <p:spPr>
          <a:xfrm>
            <a:off x="11179047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GB" sz="4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4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</a:t>
            </a:r>
            <a:r>
              <a:rPr lang="en-GB" dirty="0" err="1">
                <a:latin typeface="HSE Sans" panose="02000000000000000000" pitchFamily="2" charset="0"/>
              </a:rPr>
              <a:t>pt</a:t>
            </a:r>
            <a:r>
              <a:rPr lang="en-GB" dirty="0">
                <a:latin typeface="HSE Sans" panose="02000000000000000000" pitchFamily="2" charset="0"/>
              </a:rPr>
              <a:t>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786720" y="1173829"/>
            <a:ext cx="2217738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Москва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2022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</a:t>
            </a:r>
            <a:r>
              <a:rPr lang="en-GB" sz="1600" dirty="0">
                <a:latin typeface="HSE Sans" panose="02000000000000000000" pitchFamily="2" charset="0"/>
              </a:rPr>
              <a:t> (16 </a:t>
            </a:r>
            <a:r>
              <a:rPr lang="en-GB" sz="1600" dirty="0" err="1">
                <a:latin typeface="HSE Sans" panose="02000000000000000000" pitchFamily="2" charset="0"/>
              </a:rPr>
              <a:t>pt</a:t>
            </a:r>
            <a:r>
              <a:rPr lang="en-GB" sz="1600" dirty="0">
                <a:latin typeface="HSE Sans" panose="02000000000000000000" pitchFamily="2" charset="0"/>
              </a:rPr>
              <a:t>)</a:t>
            </a:r>
            <a:endParaRPr lang="ru-RU" sz="16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3100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екст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11" name="Straight Connector 19">
            <a:extLst>
              <a:ext uri="{FF2B5EF4-FFF2-40B4-BE49-F238E27FC236}">
                <a16:creationId xmlns:a16="http://schemas.microsoft.com/office/drawing/2014/main" id="{067DD2ED-246D-7D41-B51F-FED98BF873F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1">
            <a:extLst>
              <a:ext uri="{FF2B5EF4-FFF2-40B4-BE49-F238E27FC236}">
                <a16:creationId xmlns:a16="http://schemas.microsoft.com/office/drawing/2014/main" id="{68E8C250-D449-A743-8975-B5BFB04D9744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5">
            <a:extLst>
              <a:ext uri="{FF2B5EF4-FFF2-40B4-BE49-F238E27FC236}">
                <a16:creationId xmlns:a16="http://schemas.microsoft.com/office/drawing/2014/main" id="{DD1C71CA-B883-AF42-959D-BCA5690AAA4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9" name="Straight Connector 59">
            <a:extLst>
              <a:ext uri="{FF2B5EF4-FFF2-40B4-BE49-F238E27FC236}">
                <a16:creationId xmlns:a16="http://schemas.microsoft.com/office/drawing/2014/main" id="{3447008E-4F3B-FC4E-B96D-3927FAE1ED1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  <a:endParaRPr lang="en-RU" sz="2800">
              <a:solidFill>
                <a:schemeClr val="tx1"/>
              </a:solidFill>
              <a:latin typeface="HSE Sans" panose="02000000000000000000" pitchFamily="2" charset="0"/>
            </a:endParaRP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58000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86CF47C6-D972-9E44-A717-6848F348939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412FEF63-77C0-7C4A-B9BE-4BC0EEEEB78C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C4F550E9-E979-284D-B65F-44E092DD9D0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396B1F99-9711-C64F-A7C9-4F1D89E7F11D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63DFB-8595-A44B-9F09-A50FA310E559}" type="datetimeFigureOut">
              <a:rPr lang="en-RU" smtClean="0"/>
              <a:t>07/20/2026</a:t>
            </a:fld>
            <a:endParaRPr lang="en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262961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658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95C0D-D7DC-EF40-9E45-F5F0A4817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967" y="2186511"/>
            <a:ext cx="10244636" cy="1387841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‹Topic of the work›</a:t>
            </a:r>
            <a:r>
              <a:rPr dirty="0"/>
              <a:t/>
            </a:r>
            <a:br>
              <a:rPr dirty="0"/>
            </a:br>
            <a:r>
              <a:rPr lang="en-US" sz="2400" dirty="0"/>
              <a:t>‹English title of the work›</a:t>
            </a:r>
            <a:endParaRPr lang="ru-RU" sz="24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Faculty of Computer Science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B8D49EC-434A-5443-AC3F-85F01995E6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School of Software Engineering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FAE0FA-3CAF-BA4B-8F9F-5FEF3C2F3CC6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ru-RU" dirty="0"/>
              <a:t>Moscow 2026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4AFB2BF-A7AB-5648-ADCD-2A7F1BD358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818915" y="2371568"/>
            <a:ext cx="5606142" cy="2202480"/>
          </a:xfrm>
        </p:spPr>
        <p:txBody>
          <a:bodyPr numCol="2">
            <a:normAutofit/>
          </a:bodyPr>
          <a:lstStyle/>
          <a:p>
            <a:pPr algn="r"/>
            <a:r>
              <a:rPr lang="ru-RU" sz="1400" dirty="0"/>
              <a:t/>
            </a:r>
            <a:br>
              <a:rPr lang="ru-RU" sz="1400" dirty="0"/>
            </a:br>
            <a:endParaRPr lang="ru-RU" sz="1400" dirty="0"/>
          </a:p>
          <a:p>
            <a:pPr algn="r"/>
            <a:endParaRPr lang="ru-RU" sz="1400" dirty="0"/>
          </a:p>
          <a:p>
            <a:pPr algn="r"/>
            <a:endParaRPr lang="ru-RU" sz="1400" dirty="0"/>
          </a:p>
          <a:p>
            <a:pPr algn="r"/>
            <a:endParaRPr lang="ru-RU" sz="1400" dirty="0"/>
          </a:p>
          <a:p>
            <a:pPr algn="r"/>
            <a:endParaRPr lang="ru-RU" sz="1400" dirty="0"/>
          </a:p>
          <a:p>
            <a:pPr algn="r"/>
            <a:endParaRPr lang="ru-RU" sz="1400" dirty="0"/>
          </a:p>
          <a:p>
            <a:pPr algn="r"/>
            <a:endParaRPr lang="ru-RU" sz="1400" dirty="0"/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513150"/>
              </p:ext>
            </p:extLst>
          </p:nvPr>
        </p:nvGraphicFramePr>
        <p:xfrm>
          <a:off x="3679371" y="3774649"/>
          <a:ext cx="7593232" cy="16891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96616">
                  <a:extLst>
                    <a:ext uri="{9D8B030D-6E8A-4147-A177-3AD203B41FA5}">
                      <a16:colId xmlns:a16="http://schemas.microsoft.com/office/drawing/2014/main" val="3296702773"/>
                    </a:ext>
                  </a:extLst>
                </a:gridCol>
                <a:gridCol w="3796616">
                  <a:extLst>
                    <a:ext uri="{9D8B030D-6E8A-4147-A177-3AD203B41FA5}">
                      <a16:colId xmlns:a16="http://schemas.microsoft.com/office/drawing/2014/main" val="2485219701"/>
                    </a:ext>
                  </a:extLst>
                </a:gridCol>
              </a:tblGrid>
              <a:tr h="957678">
                <a:tc>
                  <a:txBody>
                    <a:bodyPr/>
                    <a:lstStyle/>
                    <a:p>
                      <a:endParaRPr lang="ru-RU" sz="1400" b="1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Student of group ‹Group›</a:t>
                      </a:r>
                    </a:p>
                    <a:p>
                      <a:pPr algn="r"/>
                      <a:r>
                        <a:rPr lang="ru-RU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educational programme </a:t>
                      </a:r>
                    </a:p>
                    <a:p>
                      <a:pPr algn="r"/>
                      <a:r>
                        <a:rPr lang="ru-RU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09.03.04 «Software Engineering»</a:t>
                      </a:r>
                    </a:p>
                    <a:p>
                      <a:pPr algn="r"/>
                      <a:r>
                        <a:rPr lang="en-US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HSE Sans" panose="02000000000000000000"/>
                        </a:rPr>
                        <a:t>‹Author name›</a:t>
                      </a:r>
                      <a:endParaRPr lang="ru-RU" sz="1400" b="1" i="0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8027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ru-RU" sz="1400" b="1" kern="12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Co-supervisor</a:t>
                      </a:r>
                      <a:r>
                        <a:rPr lang="ru-RU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: </a:t>
                      </a:r>
                    </a:p>
                    <a:p>
                      <a:pPr algn="r"/>
                      <a:r>
                        <a:rPr lang="en-US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HSE Sans" panose="02000000000000000000"/>
                        </a:rPr>
                        <a:t>‹Co-supervisor name — delete this block if none›</a:t>
                      </a:r>
                      <a:endParaRPr lang="ru-RU" sz="1400" b="1" i="0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Supervisor: </a:t>
                      </a:r>
                    </a:p>
                    <a:p>
                      <a:pPr algn="r"/>
                      <a:r>
                        <a:rPr lang="en-US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HSE Sans" panose="02000000000000000000"/>
                        </a:rPr>
                        <a:t>‹position›, ‹degree›</a:t>
                      </a:r>
                    </a:p>
                    <a:p>
                      <a:pPr algn="r"/>
                      <a:r>
                        <a:rPr lang="en-US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HSE Sans" panose="02000000000000000000"/>
                        </a:rPr>
                        <a:t>‹Supervisor name›</a:t>
                      </a:r>
                      <a:endParaRPr lang="ru-RU" sz="1400" b="1" i="0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7538864"/>
                  </a:ext>
                </a:extLst>
              </a:tr>
            </a:tbl>
          </a:graphicData>
        </a:graphic>
      </p:graphicFrame>
      <p:sp>
        <p:nvSpPr>
          <p:cNvPr id="10" name="Выноска 2 9"/>
          <p:cNvSpPr/>
          <p:nvPr/>
        </p:nvSpPr>
        <p:spPr>
          <a:xfrm>
            <a:off x="901211" y="3076637"/>
            <a:ext cx="4910504" cy="1631160"/>
          </a:xfrm>
          <a:prstGeom prst="borderCallout2">
            <a:avLst>
              <a:gd name="adj1" fmla="val 49254"/>
              <a:gd name="adj2" fmla="val 100048"/>
              <a:gd name="adj3" fmla="val 95364"/>
              <a:gd name="adj4" fmla="val 144576"/>
              <a:gd name="adj5" fmla="val 132163"/>
              <a:gd name="adj6" fmla="val 17788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/>
              <a:t>Positions</a:t>
            </a:r>
            <a:r>
              <a:rPr lang="en-US" sz="1200" dirty="0"/>
              <a:t> – professor at the School of Software Engineering || associate professor at the School of Software Engineering || senior lecturer at the School of Software Engineering // lecturer at the School of Software Engineering</a:t>
            </a:r>
          </a:p>
          <a:p>
            <a:r>
              <a:rPr lang="en-US" sz="1200" dirty="0"/>
              <a:t>Or at another school / laboratory</a:t>
            </a:r>
          </a:p>
          <a:p>
            <a:r>
              <a:rPr lang="en-US" sz="1200" b="1" dirty="0"/>
              <a:t>Academic degrees</a:t>
            </a:r>
            <a:r>
              <a:rPr lang="en-US" sz="1200" dirty="0"/>
              <a:t>: Doctor of Sciences (Engineering) || Doctor of Sciences (Physics &amp; Mathematics) || Candidate of Sciences (Engineering) || Candidate of Sciences (Physics &amp; Mathematics), etc.</a:t>
            </a:r>
            <a:endParaRPr lang="ru-RU" sz="1200" dirty="0"/>
          </a:p>
        </p:txBody>
      </p:sp>
      <p:sp>
        <p:nvSpPr>
          <p:cNvPr id="11" name="Выноска 2 10"/>
          <p:cNvSpPr/>
          <p:nvPr/>
        </p:nvSpPr>
        <p:spPr>
          <a:xfrm>
            <a:off x="1173564" y="5244612"/>
            <a:ext cx="2505807" cy="459258"/>
          </a:xfrm>
          <a:prstGeom prst="borderCallout2">
            <a:avLst>
              <a:gd name="adj1" fmla="val 49254"/>
              <a:gd name="adj2" fmla="val 100048"/>
              <a:gd name="adj3" fmla="val -10888"/>
              <a:gd name="adj4" fmla="val 141944"/>
              <a:gd name="adj5" fmla="val -78428"/>
              <a:gd name="adj6" fmla="val 19174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200" dirty="0"/>
              <a:t>Если официального </a:t>
            </a:r>
            <a:r>
              <a:rPr lang="ru-RU" sz="1200" dirty="0" err="1"/>
              <a:t>соруководителя</a:t>
            </a:r>
            <a:r>
              <a:rPr lang="ru-RU" sz="1200" dirty="0"/>
              <a:t> нет, то убрать.</a:t>
            </a:r>
          </a:p>
        </p:txBody>
      </p:sp>
    </p:spTree>
    <p:extLst>
      <p:ext uri="{BB962C8B-B14F-4D97-AF65-F5344CB8AC3E}">
        <p14:creationId xmlns:p14="http://schemas.microsoft.com/office/powerpoint/2010/main" val="982325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Subject area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8" y="2306511"/>
            <a:ext cx="5074238" cy="3393234"/>
          </a:xfrm>
        </p:spPr>
        <p:txBody>
          <a:bodyPr>
            <a:normAutofit/>
          </a:bodyPr>
          <a:lstStyle/>
          <a:p>
            <a:r>
              <a:rPr lang="ru-RU" sz="1800" b="1" dirty="0"/>
              <a:t>Статические анализаторы кода</a:t>
            </a:r>
            <a:br>
              <a:rPr lang="ru-RU" sz="1800" b="1" dirty="0"/>
            </a:br>
            <a:r>
              <a:rPr lang="ru-RU" sz="1600" i="1" dirty="0"/>
              <a:t>Цель – структурирование потока управления</a:t>
            </a:r>
            <a:endParaRPr lang="ru-RU" sz="1800" i="1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«Software Engineering»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6FCEB52-B82D-4645-B5B7-97B6D33A6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197" y="3333470"/>
            <a:ext cx="6839905" cy="2076740"/>
          </a:xfrm>
          <a:prstGeom prst="rect">
            <a:avLst/>
          </a:prstGeom>
        </p:spPr>
      </p:pic>
      <p:sp>
        <p:nvSpPr>
          <p:cNvPr id="10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4" name="Выноска 1 13"/>
          <p:cNvSpPr/>
          <p:nvPr/>
        </p:nvSpPr>
        <p:spPr>
          <a:xfrm>
            <a:off x="6717321" y="1274125"/>
            <a:ext cx="4945931" cy="839718"/>
          </a:xfrm>
          <a:prstGeom prst="borderCallout1">
            <a:avLst>
              <a:gd name="adj1" fmla="val 51382"/>
              <a:gd name="adj2" fmla="val -163"/>
              <a:gd name="adj3" fmla="val 49573"/>
              <a:gd name="adj4" fmla="val -23182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/>
              <a:t>Приводится описание предметной области из ВКР</a:t>
            </a:r>
            <a:r>
              <a:rPr lang="en-US" sz="1200" dirty="0"/>
              <a:t> </a:t>
            </a:r>
            <a:r>
              <a:rPr lang="ru-RU" sz="1200" dirty="0"/>
              <a:t>и неформальная постановка задачи, в каких условиях ставилась задача на проект.</a:t>
            </a:r>
          </a:p>
          <a:p>
            <a:pPr algn="ctr"/>
            <a:r>
              <a:rPr lang="ru-RU" sz="1200" dirty="0"/>
              <a:t>Название заголовков необязательные. </a:t>
            </a:r>
          </a:p>
          <a:p>
            <a:pPr algn="ctr"/>
            <a:r>
              <a:rPr lang="ru-RU" sz="1200" dirty="0"/>
              <a:t>Можно написать содержательный заголовок по существу своей темы.</a:t>
            </a:r>
          </a:p>
        </p:txBody>
      </p:sp>
      <p:sp>
        <p:nvSpPr>
          <p:cNvPr id="16" name="Прямоугольная выноска 15"/>
          <p:cNvSpPr/>
          <p:nvPr/>
        </p:nvSpPr>
        <p:spPr>
          <a:xfrm>
            <a:off x="707781" y="3631223"/>
            <a:ext cx="3121269" cy="1827345"/>
          </a:xfrm>
          <a:prstGeom prst="wedgeRectCallout">
            <a:avLst>
              <a:gd name="adj1" fmla="val -20692"/>
              <a:gd name="adj2" fmla="val 6298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Пожелание: использовать на одном слайде не более 3 цветов и не более 3 шрифтов.</a:t>
            </a:r>
            <a:endParaRPr lang="en-US" sz="1400" dirty="0"/>
          </a:p>
          <a:p>
            <a:pPr algn="ctr"/>
            <a:r>
              <a:rPr lang="ru-RU" sz="1400" dirty="0"/>
              <a:t>Во всей презентации размеры шрифтов примерно одинаковые.</a:t>
            </a:r>
          </a:p>
          <a:p>
            <a:pPr algn="ctr"/>
            <a:r>
              <a:rPr lang="ru-RU" sz="1400" dirty="0"/>
              <a:t>Фрагменты кода или псевдокода – </a:t>
            </a:r>
            <a:r>
              <a:rPr lang="ru-RU" sz="1400" dirty="0" err="1"/>
              <a:t>моноширинным</a:t>
            </a:r>
            <a:r>
              <a:rPr lang="ru-RU" sz="1400" dirty="0"/>
              <a:t> шрифтом (например,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Courier</a:t>
            </a:r>
            <a:r>
              <a:rPr lang="ru-RU" sz="1400" dirty="0"/>
              <a:t> или </a:t>
            </a:r>
            <a:r>
              <a:rPr lang="en-US" sz="1400" dirty="0">
                <a:latin typeface="Consolas" panose="020B0609020204030204" pitchFamily="49" charset="0"/>
              </a:rPr>
              <a:t>Consolas</a:t>
            </a:r>
            <a:r>
              <a:rPr lang="en-US" sz="1400" dirty="0"/>
              <a:t>)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843577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Key terms and definitions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379663"/>
            <a:ext cx="5403423" cy="3393234"/>
          </a:xfrm>
        </p:spPr>
        <p:txBody>
          <a:bodyPr>
            <a:normAutofit/>
          </a:bodyPr>
          <a:lstStyle/>
          <a:p>
            <a:r>
              <a:rPr lang="en-US" sz="1400" b="1" dirty="0"/>
              <a:t>JET</a:t>
            </a:r>
            <a:r>
              <a:rPr lang="en-US" sz="1400" dirty="0"/>
              <a:t> – jump elimination tool (</a:t>
            </a:r>
            <a:r>
              <a:rPr lang="ru-RU" sz="1400" dirty="0"/>
              <a:t>инструмент устранения прыжков</a:t>
            </a:r>
            <a:r>
              <a:rPr lang="en-US" sz="1400" dirty="0"/>
              <a:t>)</a:t>
            </a:r>
            <a:endParaRPr lang="ru-RU" sz="1400" dirty="0"/>
          </a:p>
          <a:p>
            <a:r>
              <a:rPr lang="ru-RU" sz="1400" b="1" dirty="0"/>
              <a:t>Прыжки (операторы перехода) </a:t>
            </a:r>
            <a:r>
              <a:rPr lang="en-US" sz="1400" dirty="0"/>
              <a:t>–</a:t>
            </a:r>
            <a:r>
              <a:rPr lang="ru-RU" sz="1400" dirty="0"/>
              <a:t> операторы, совершающие переход к определённой точке программы (такие как </a:t>
            </a:r>
            <a:r>
              <a:rPr lang="en-US" sz="1400" dirty="0" err="1"/>
              <a:t>goto</a:t>
            </a:r>
            <a:r>
              <a:rPr lang="en-US" sz="1400" dirty="0"/>
              <a:t>, continue, break</a:t>
            </a:r>
            <a:r>
              <a:rPr lang="ru-RU" sz="1400" dirty="0"/>
              <a:t>)</a:t>
            </a:r>
            <a:endParaRPr lang="en-US" sz="1400" dirty="0"/>
          </a:p>
          <a:p>
            <a:r>
              <a:rPr lang="ru-RU" sz="1400" b="1" dirty="0"/>
              <a:t>Статический анализ кода</a:t>
            </a:r>
            <a:r>
              <a:rPr lang="ru-RU" sz="1400" dirty="0"/>
              <a:t> </a:t>
            </a:r>
            <a:r>
              <a:rPr lang="en-US" sz="1400" dirty="0"/>
              <a:t>–</a:t>
            </a:r>
            <a:r>
              <a:rPr lang="ru-RU" sz="1400" dirty="0"/>
              <a:t> анализ кода, производимый без запуска анализируемого кода</a:t>
            </a:r>
          </a:p>
          <a:p>
            <a:r>
              <a:rPr lang="ru-RU" sz="1400" b="1" dirty="0"/>
              <a:t>Семантическая эквивалентность </a:t>
            </a:r>
            <a:r>
              <a:rPr lang="ru-RU" sz="1400" dirty="0"/>
              <a:t>– максимально достижимая смысловая близость</a:t>
            </a:r>
          </a:p>
          <a:p>
            <a:r>
              <a:rPr lang="en-US" sz="1400" b="1" dirty="0"/>
              <a:t>JVM</a:t>
            </a:r>
            <a:r>
              <a:rPr lang="en-US" sz="1400" dirty="0"/>
              <a:t> – </a:t>
            </a:r>
            <a:r>
              <a:rPr lang="ru-RU" sz="1400" dirty="0"/>
              <a:t>виртуальная машина </a:t>
            </a:r>
            <a:r>
              <a:rPr lang="en-US" sz="1400" dirty="0"/>
              <a:t>Java</a:t>
            </a:r>
            <a:endParaRPr lang="ru-RU" sz="14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«Software Engineering»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2" name="Прямоугольная выноска 1"/>
          <p:cNvSpPr/>
          <p:nvPr/>
        </p:nvSpPr>
        <p:spPr>
          <a:xfrm>
            <a:off x="7294942" y="2307981"/>
            <a:ext cx="3648808" cy="2338754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Это пример</a:t>
            </a:r>
            <a:endParaRPr lang="en-US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Желательно по алфавиту (по </a:t>
            </a:r>
            <a:r>
              <a:rPr lang="en-U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ASCII</a:t>
            </a:r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))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Можно в порядке упоминания, но это неудобно читателю.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Не зачитывайте этот слайд!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Можно назвать только 1-2 важных определения.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Если что-то надо будет уточнить, Вам зададут вопрос.</a:t>
            </a:r>
          </a:p>
        </p:txBody>
      </p:sp>
    </p:spTree>
    <p:extLst>
      <p:ext uri="{BB962C8B-B14F-4D97-AF65-F5344CB8AC3E}">
        <p14:creationId xmlns:p14="http://schemas.microsoft.com/office/powerpoint/2010/main" val="4013750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Relevance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5514" y="2516822"/>
            <a:ext cx="8896431" cy="4048569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Неструктурированный программный код</a:t>
            </a:r>
            <a:br>
              <a:rPr lang="ru-RU" dirty="0"/>
            </a:br>
            <a:r>
              <a:rPr lang="ru-RU" dirty="0"/>
              <a:t>Вопросы вредности операторов перехода возникли с 1968г. Среди них можно выявить 3 основных момента: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Корректность кода, не содержащего </a:t>
            </a:r>
            <a:r>
              <a:rPr lang="en-US" dirty="0" err="1"/>
              <a:t>goto</a:t>
            </a:r>
            <a:r>
              <a:rPr lang="en-US" dirty="0"/>
              <a:t> </a:t>
            </a:r>
            <a:r>
              <a:rPr lang="ru-RU" dirty="0"/>
              <a:t>легче доказать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С </a:t>
            </a:r>
            <a:r>
              <a:rPr lang="en-US" dirty="0" err="1"/>
              <a:t>goto</a:t>
            </a:r>
            <a:r>
              <a:rPr lang="en-US" dirty="0"/>
              <a:t> </a:t>
            </a:r>
            <a:r>
              <a:rPr lang="ru-RU" dirty="0"/>
              <a:t>появляются проблемы форматирования, поскольку нарушается логическая структура кода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Применение </a:t>
            </a:r>
            <a:r>
              <a:rPr lang="en-US" dirty="0" err="1"/>
              <a:t>goto</a:t>
            </a:r>
            <a:r>
              <a:rPr lang="en-US" dirty="0"/>
              <a:t> </a:t>
            </a:r>
            <a:r>
              <a:rPr lang="ru-RU" dirty="0"/>
              <a:t>препятствует возможности оптимизации программного кода компилятором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Операторы перехода усложняют работу статическим анализаторам</a:t>
            </a:r>
            <a:br>
              <a:rPr lang="ru-RU" dirty="0"/>
            </a:br>
            <a:r>
              <a:rPr lang="ru-RU" dirty="0"/>
              <a:t>В результате чего могут возникать сложности с форматированием, проверкой кода анализатором и дальнейшей поддержкой программного кода. </a:t>
            </a:r>
            <a:br>
              <a:rPr lang="ru-RU" dirty="0"/>
            </a:br>
            <a:r>
              <a:rPr lang="ru-RU" dirty="0"/>
              <a:t>Снижение сложности потока управления может значительно улучшить статический анализ исходного кода в инструментах (таких как </a:t>
            </a:r>
            <a:r>
              <a:rPr lang="ru-RU" dirty="0" err="1"/>
              <a:t>Polystat</a:t>
            </a:r>
            <a:r>
              <a:rPr lang="ru-RU" dirty="0"/>
              <a:t>), которые в настоящее время используются более чем 20000 программистами Huawei</a:t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r>
              <a:rPr lang="ru-RU" dirty="0"/>
              <a:t>Такой анализ хорошо работает с операторами, которые легко сопоставить с функциями, например </a:t>
            </a:r>
            <a:r>
              <a:rPr lang="ru-RU" dirty="0" err="1"/>
              <a:t>if</a:t>
            </a:r>
            <a:r>
              <a:rPr lang="ru-RU" dirty="0"/>
              <a:t> и </a:t>
            </a:r>
            <a:r>
              <a:rPr lang="ru-RU" dirty="0" err="1"/>
              <a:t>switch</a:t>
            </a:r>
            <a:r>
              <a:rPr lang="ru-RU" dirty="0"/>
              <a:t>. Однако операторы перехода не могут быть также легко сопоставлены с функциями. Наличие операторов перехода в исходном коде делает невозможным использование функционального метода анализа.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«Software Engineering»</a:t>
            </a:r>
          </a:p>
        </p:txBody>
      </p:sp>
      <p:pic>
        <p:nvPicPr>
          <p:cNvPr id="2050" name="Picture 2" descr="Свободное общество dataved.ru: Принципы работы статического анализа кода">
            <a:extLst>
              <a:ext uri="{FF2B5EF4-FFF2-40B4-BE49-F238E27FC236}">
                <a16:creationId xmlns:a16="http://schemas.microsoft.com/office/drawing/2014/main" id="{F496D00D-BD4B-4115-BCDD-E14BDF61C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535" y="2981706"/>
            <a:ext cx="2381250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2" name="Прямоугольная выноска 11"/>
          <p:cNvSpPr/>
          <p:nvPr/>
        </p:nvSpPr>
        <p:spPr>
          <a:xfrm>
            <a:off x="5029201" y="1134208"/>
            <a:ext cx="5253404" cy="1204546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Отражается актуальность вашей работы (из ВКР) – КЛЮЧЕВЫЕ ТЕЗИСЫ!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Здесь можно показать, например, что много работ, конференций в последнее время посвящено вашей проблеме, какие компании занимаются похожей тематикой и т.п.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Можно показать, например, в каких прикладных задачах  используются  разработки, программы и пр.</a:t>
            </a:r>
          </a:p>
        </p:txBody>
      </p:sp>
    </p:spTree>
    <p:extLst>
      <p:ext uri="{BB962C8B-B14F-4D97-AF65-F5344CB8AC3E}">
        <p14:creationId xmlns:p14="http://schemas.microsoft.com/office/powerpoint/2010/main" val="3988453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Goal and objectives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379663"/>
            <a:ext cx="10752663" cy="3393234"/>
          </a:xfrm>
        </p:spPr>
        <p:txBody>
          <a:bodyPr>
            <a:normAutofit/>
          </a:bodyPr>
          <a:lstStyle/>
          <a:p>
            <a:r>
              <a:rPr lang="ru-RU" sz="1400" i="1" dirty="0"/>
              <a:t>Цель работы</a:t>
            </a:r>
            <a:r>
              <a:rPr lang="ru-RU" sz="1400" dirty="0"/>
              <a:t> – разработать инструмент для удаления операторов перехода</a:t>
            </a:r>
          </a:p>
          <a:p>
            <a:r>
              <a:rPr lang="ru-RU" sz="1400" i="1" dirty="0"/>
              <a:t>Задачи: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Разработать алгоритм устранения таких операторов как: </a:t>
            </a:r>
            <a:r>
              <a:rPr lang="en-US" sz="1400" dirty="0"/>
              <a:t>break, continue, </a:t>
            </a:r>
            <a:r>
              <a:rPr lang="en-US" sz="1400" dirty="0" err="1"/>
              <a:t>goto</a:t>
            </a:r>
            <a:r>
              <a:rPr lang="en-US" sz="1400" dirty="0"/>
              <a:t>;</a:t>
            </a:r>
            <a:endParaRPr lang="ru-RU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Обеспечить семантическую эквивалентность трансформированного кода входному</a:t>
            </a:r>
            <a:r>
              <a:rPr lang="en-US" sz="1400" dirty="0"/>
              <a:t>;</a:t>
            </a:r>
            <a:endParaRPr lang="ru-RU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Трансформация программного кода на таких языках как </a:t>
            </a:r>
            <a:r>
              <a:rPr lang="en-US" sz="1400" dirty="0"/>
              <a:t>Kotlin, Java, C#;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Расширяемость алгоритма для семейства </a:t>
            </a:r>
            <a:r>
              <a:rPr lang="en-US" sz="1400" dirty="0"/>
              <a:t>C-</a:t>
            </a:r>
            <a:r>
              <a:rPr lang="ru-RU" sz="1400" dirty="0"/>
              <a:t>подобных языков.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«Software Engineering»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0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1" name="Прямоугольная выноска 10"/>
          <p:cNvSpPr/>
          <p:nvPr/>
        </p:nvSpPr>
        <p:spPr>
          <a:xfrm>
            <a:off x="7680010" y="1507878"/>
            <a:ext cx="4062046" cy="1740877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Отражается формальная постановка цели и задач (из ВКР).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Цель – одна.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Задач – много.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Здесь пример задач, у каждого в ВКР они свои.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Далее план презентации может быть, например, по задачам…</a:t>
            </a:r>
          </a:p>
        </p:txBody>
      </p:sp>
    </p:spTree>
    <p:extLst>
      <p:ext uri="{BB962C8B-B14F-4D97-AF65-F5344CB8AC3E}">
        <p14:creationId xmlns:p14="http://schemas.microsoft.com/office/powerpoint/2010/main" val="3181034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Analysis of existing solutions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8" y="2379663"/>
            <a:ext cx="5321126" cy="3393234"/>
          </a:xfrm>
        </p:spPr>
        <p:txBody>
          <a:bodyPr>
            <a:normAutofit lnSpcReduction="10000"/>
          </a:bodyPr>
          <a:lstStyle/>
          <a:p>
            <a:r>
              <a:rPr lang="ru-RU" sz="1400" dirty="0"/>
              <a:t>Аналогичных инструментов на момент написания работы найдено не было.</a:t>
            </a:r>
          </a:p>
          <a:p>
            <a:r>
              <a:rPr lang="ru-RU" sz="1400" dirty="0"/>
              <a:t>Проводимые ранее исследования базировались преимущественно на использовании некоторого количества паттернов и «обёртки» из условного выражения. </a:t>
            </a:r>
          </a:p>
          <a:p>
            <a:r>
              <a:rPr lang="ru-RU" sz="1400" dirty="0"/>
              <a:t>Базовый алгоритм работ-аналогов: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400" dirty="0"/>
              <a:t>Выявление всех операторов и точек их перехода</a:t>
            </a:r>
            <a:r>
              <a:rPr lang="en-US" sz="1400" dirty="0"/>
              <a:t>;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400" dirty="0"/>
              <a:t>Объявление признака перехода для каждой метки</a:t>
            </a:r>
            <a:r>
              <a:rPr lang="en-US" sz="1400" dirty="0"/>
              <a:t>;</a:t>
            </a:r>
            <a:endParaRPr lang="ru-RU" sz="1400" dirty="0"/>
          </a:p>
          <a:p>
            <a:pPr marL="342900" indent="-342900">
              <a:buFont typeface="+mj-lt"/>
              <a:buAutoNum type="arabicPeriod"/>
            </a:pPr>
            <a:r>
              <a:rPr lang="ru-RU" sz="1400" dirty="0"/>
              <a:t>Трансформация всех без-условных операторов в условные</a:t>
            </a:r>
            <a:r>
              <a:rPr lang="en-US" sz="1400" dirty="0"/>
              <a:t>;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400" dirty="0"/>
              <a:t>Устранение операторов при помощи подходов для каждого случая</a:t>
            </a:r>
            <a:r>
              <a:rPr lang="en-US" sz="1400" dirty="0"/>
              <a:t>;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«Software Engineering»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4ED7F03-B3A4-4342-809D-9CF67F350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9784" y="3842238"/>
            <a:ext cx="4855726" cy="2850929"/>
          </a:xfrm>
          <a:prstGeom prst="rect">
            <a:avLst/>
          </a:prstGeom>
        </p:spPr>
      </p:pic>
      <p:sp>
        <p:nvSpPr>
          <p:cNvPr id="11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4" name="Прямоугольная выноска 13"/>
          <p:cNvSpPr/>
          <p:nvPr/>
        </p:nvSpPr>
        <p:spPr>
          <a:xfrm>
            <a:off x="6585789" y="1598674"/>
            <a:ext cx="5050829" cy="1561978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Показать, какие теоретические / технологические подходы к решению задач по теме существуют. 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Основа – анализ российских и зарубежных  источников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Анализ аналогов. Для аналогов обязательно указать разработчиков / компанию, версию, год издания, дать ссылку на сайт разработчика / продукта, обязательно покажите эмблему разработчика, если она есть</a:t>
            </a:r>
          </a:p>
        </p:txBody>
      </p:sp>
    </p:spTree>
    <p:extLst>
      <p:ext uri="{BB962C8B-B14F-4D97-AF65-F5344CB8AC3E}">
        <p14:creationId xmlns:p14="http://schemas.microsoft.com/office/powerpoint/2010/main" val="4039017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Functional requirements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28805" y="2255070"/>
            <a:ext cx="10534390" cy="3893122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1600" dirty="0"/>
              <a:t>Программа должна составлять отчёт по количеству найденных операторов перехода</a:t>
            </a:r>
            <a:r>
              <a:rPr lang="en-US" sz="1600" dirty="0"/>
              <a:t>;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Программа должна обрабатывать программный код, написанный на языках программирования</a:t>
            </a:r>
            <a:r>
              <a:rPr lang="en-US" sz="1600" dirty="0"/>
              <a:t>:</a:t>
            </a:r>
          </a:p>
          <a:p>
            <a:pPr marL="800100" lvl="1" indent="-342900">
              <a:buFont typeface="+mj-lt"/>
              <a:buAutoNum type="arabicPeriod"/>
            </a:pPr>
            <a:r>
              <a:rPr lang="ru-RU" sz="1600" dirty="0"/>
              <a:t> </a:t>
            </a:r>
            <a:r>
              <a:rPr lang="en-US" sz="1600" dirty="0"/>
              <a:t>Kotlin;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Java;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 C#;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Программа должна устранять операторы: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break;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continue;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 err="1"/>
              <a:t>goto</a:t>
            </a:r>
            <a:r>
              <a:rPr lang="en-US" sz="1600" dirty="0"/>
              <a:t> (labels);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Программа должна быть совместима с </a:t>
            </a:r>
            <a:r>
              <a:rPr lang="en-US" sz="1600" dirty="0"/>
              <a:t>JVMv8.</a:t>
            </a:r>
            <a:endParaRPr lang="ru-RU" sz="16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«Software Engineering»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0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1" name="Прямоугольная выноска 10"/>
          <p:cNvSpPr/>
          <p:nvPr/>
        </p:nvSpPr>
        <p:spPr>
          <a:xfrm>
            <a:off x="6163976" y="3137144"/>
            <a:ext cx="5371532" cy="2714137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 заголовке слайда такое название необязательное. 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Лучше написать содержательный заголовок по существу своей темы. Могут быть функциональные требования к программе, может быть модуль, может быть библиотека, может быть сервер или клиент и т.п. Может быть несколько слайдов.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По содержанию слайда: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Что должна выполнять программа (функциональные требования)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Что на входе, на выходе (потом позже можно подробнее при необходимости)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 Каким должен быть интерфейс, какие настройки и т.п.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Здесь просто указан образец, Вы указываете свои данные.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63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Analysis and selection of models, methods and algorithms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«Software Engineering»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53D2EFC-BFF8-4AD3-97C8-DB2613237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19" y="2006765"/>
            <a:ext cx="5051915" cy="450517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F2891A8-74BE-43BD-9E08-783D8EB00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976" y="4364901"/>
            <a:ext cx="2089817" cy="185273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3C26ECB-B0F6-4114-A0AB-FACE532C0A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5073" y="4364856"/>
            <a:ext cx="2459617" cy="1852783"/>
          </a:xfrm>
          <a:prstGeom prst="rect">
            <a:avLst/>
          </a:prstGeom>
        </p:spPr>
      </p:pic>
      <p:sp>
        <p:nvSpPr>
          <p:cNvPr id="11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3" name="Прямоугольная выноска 12"/>
          <p:cNvSpPr/>
          <p:nvPr/>
        </p:nvSpPr>
        <p:spPr>
          <a:xfrm>
            <a:off x="6589836" y="2127738"/>
            <a:ext cx="4092748" cy="1356136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 заголовке слайда такое название необязательное. 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Лучше написать содержательный заголовок по существу своей темы.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Могут быть текстовое описание с перечислением, схемы, картинки и т.п.</a:t>
            </a:r>
          </a:p>
        </p:txBody>
      </p:sp>
    </p:spTree>
    <p:extLst>
      <p:ext uri="{BB962C8B-B14F-4D97-AF65-F5344CB8AC3E}">
        <p14:creationId xmlns:p14="http://schemas.microsoft.com/office/powerpoint/2010/main" val="2477655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Algorithms and data structures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«Software Engineering»</a:t>
            </a:r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3" name="Прямоугольная выноска 12"/>
          <p:cNvSpPr/>
          <p:nvPr/>
        </p:nvSpPr>
        <p:spPr>
          <a:xfrm>
            <a:off x="3169626" y="2633295"/>
            <a:ext cx="6308411" cy="1846385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 заголовке слайда такое название необязательное. 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Лучше написать содержательный заголовок по существу своей темы.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Приводятся схемы или описание алгоритма на псевдоязыке или иллюстрации на примере и т.д., структуры данных в проекте, схемы данных, диаграммы классов и т.п.</a:t>
            </a:r>
          </a:p>
        </p:txBody>
      </p:sp>
    </p:spTree>
    <p:extLst>
      <p:ext uri="{BB962C8B-B14F-4D97-AF65-F5344CB8AC3E}">
        <p14:creationId xmlns:p14="http://schemas.microsoft.com/office/powerpoint/2010/main" val="167989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Technologies and implementation tools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Kotlin</a:t>
            </a:r>
          </a:p>
          <a:p>
            <a:r>
              <a:rPr lang="en-US" sz="1600" dirty="0"/>
              <a:t>IntelliJ IDEA</a:t>
            </a:r>
          </a:p>
          <a:p>
            <a:r>
              <a:rPr lang="en-US" sz="1600" dirty="0"/>
              <a:t>Gradle</a:t>
            </a:r>
          </a:p>
          <a:p>
            <a:r>
              <a:rPr lang="en-US" sz="1600" dirty="0"/>
              <a:t>GitHub</a:t>
            </a:r>
            <a:endParaRPr lang="ru-RU" sz="16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«Software Engineering»</a:t>
            </a:r>
          </a:p>
        </p:txBody>
      </p:sp>
      <p:pic>
        <p:nvPicPr>
          <p:cNvPr id="3074" name="Picture 2" descr="pbs.twimg.com/profile_images/139932969434074727...">
            <a:extLst>
              <a:ext uri="{FF2B5EF4-FFF2-40B4-BE49-F238E27FC236}">
                <a16:creationId xmlns:a16="http://schemas.microsoft.com/office/drawing/2014/main" id="{051AA271-63E2-4247-81C2-E50E769A6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376679">
            <a:off x="7574512" y="2042622"/>
            <a:ext cx="1025624" cy="1025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ntelliJ IDEA — Википедия">
            <a:extLst>
              <a:ext uri="{FF2B5EF4-FFF2-40B4-BE49-F238E27FC236}">
                <a16:creationId xmlns:a16="http://schemas.microsoft.com/office/drawing/2014/main" id="{413D2A3D-341F-4463-9C46-9E54222DA8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47530">
            <a:off x="9653051" y="2820772"/>
            <a:ext cx="1092619" cy="1092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Gradle | Gradle Guides">
            <a:extLst>
              <a:ext uri="{FF2B5EF4-FFF2-40B4-BE49-F238E27FC236}">
                <a16:creationId xmlns:a16="http://schemas.microsoft.com/office/drawing/2014/main" id="{1F4C9045-90C2-410C-8475-E1168E05CC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885654">
            <a:off x="7145267" y="3542761"/>
            <a:ext cx="1467251" cy="1467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GitHub · GitHub">
            <a:extLst>
              <a:ext uri="{FF2B5EF4-FFF2-40B4-BE49-F238E27FC236}">
                <a16:creationId xmlns:a16="http://schemas.microsoft.com/office/drawing/2014/main" id="{B1772497-5D9C-4276-96E7-AA5E5B17A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40009">
            <a:off x="9394795" y="4687268"/>
            <a:ext cx="1152407" cy="1152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4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5" name="Прямоугольная выноска 14"/>
          <p:cNvSpPr/>
          <p:nvPr/>
        </p:nvSpPr>
        <p:spPr>
          <a:xfrm>
            <a:off x="2185548" y="2586178"/>
            <a:ext cx="4572568" cy="1682580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Указывается выбранный инструментарий, язык и среда программирования, разработки и т.п.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Стороннике библиотеки (со ссылками, указанием авторов, версии, года и т.п.)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Контроль версий и прочее.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Обязательно эмблемы компаний, название инструмента, его назначение (тогда можно не останавливаться подробно)</a:t>
            </a:r>
          </a:p>
        </p:txBody>
      </p:sp>
    </p:spTree>
    <p:extLst>
      <p:ext uri="{BB962C8B-B14F-4D97-AF65-F5344CB8AC3E}">
        <p14:creationId xmlns:p14="http://schemas.microsoft.com/office/powerpoint/2010/main" val="1609920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 fontScale="90000"/>
          </a:bodyPr>
          <a:lstStyle/>
          <a:p>
            <a:r>
              <a:rPr lang="ru-RU" sz="2800" dirty="0"/>
              <a:t>Application / system / service architecture (system diagram, design, diagrams, etc.)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«Software Engineering»</a:t>
            </a:r>
          </a:p>
        </p:txBody>
      </p:sp>
      <p:sp>
        <p:nvSpPr>
          <p:cNvPr id="13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7" name="Прямоугольная выноска 16"/>
          <p:cNvSpPr/>
          <p:nvPr/>
        </p:nvSpPr>
        <p:spPr>
          <a:xfrm>
            <a:off x="2189830" y="2715776"/>
            <a:ext cx="7948291" cy="2501411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Отражается архитектура программной системы в любом из известных архитектурных шаблонов.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 схеме надо показать крупно последовательность работы программы. Выделите, где используются библиотеки.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Или может быть карта процессов, системный ландшафт, 4-х контекстная диаграмма, пользовательские сценарии, сценарии взаимодействия подсистем в системе.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Используйте известные нотации для описания.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САМОЕ ГЛАВНОЕ: выделите те компоненты, разработку которых реализовали именно ВЫ!!!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Самый частый вопрос на защите после вашего доклада, в котором вы рассказываете о методах, алгоритмах, потом об использованных библиотеках: «А что же сделали именно вы?», «Какой Ваш вклад в разработанное решение?»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463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/>
          <a:lstStyle/>
          <a:p>
            <a:r>
              <a:rPr lang="ru-RU" sz="2800" dirty="0"/>
              <a:t>Input and output data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«Software Engineering»</a:t>
            </a:r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4" name="Прямоугольная выноска 13"/>
          <p:cNvSpPr/>
          <p:nvPr/>
        </p:nvSpPr>
        <p:spPr>
          <a:xfrm>
            <a:off x="3090497" y="2715776"/>
            <a:ext cx="5659077" cy="1648557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Если вам есть что сказать по входным-выходным данным, напишите тоже.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Например – подготовка входных данных для алгоритма ХХХ заключается в следующем.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Или – модели были получены из </a:t>
            </a:r>
            <a:r>
              <a:rPr lang="ru-RU" sz="12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репозитория</a:t>
            </a:r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ХХХ (ссылка, автор и пр.).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Или диаграмма потоков данных.</a:t>
            </a:r>
          </a:p>
        </p:txBody>
      </p:sp>
    </p:spTree>
    <p:extLst>
      <p:ext uri="{BB962C8B-B14F-4D97-AF65-F5344CB8AC3E}">
        <p14:creationId xmlns:p14="http://schemas.microsoft.com/office/powerpoint/2010/main" val="3422648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Implementation details, testing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«Software Engineering»</a:t>
            </a:r>
          </a:p>
        </p:txBody>
      </p:sp>
      <p:sp>
        <p:nvSpPr>
          <p:cNvPr id="13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7" name="Прямоугольная выноска 16"/>
          <p:cNvSpPr/>
          <p:nvPr/>
        </p:nvSpPr>
        <p:spPr>
          <a:xfrm>
            <a:off x="3594697" y="3033347"/>
            <a:ext cx="5138558" cy="1616737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Отражаются особенности программной реализации, тестирования, испытаний и вашего решения.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Может быть несколько слайдов.</a:t>
            </a:r>
          </a:p>
        </p:txBody>
      </p:sp>
    </p:spTree>
    <p:extLst>
      <p:ext uri="{BB962C8B-B14F-4D97-AF65-F5344CB8AC3E}">
        <p14:creationId xmlns:p14="http://schemas.microsoft.com/office/powerpoint/2010/main" val="2670824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1145941"/>
          </a:xfrm>
        </p:spPr>
        <p:txBody>
          <a:bodyPr>
            <a:normAutofit fontScale="90000"/>
          </a:bodyPr>
          <a:lstStyle/>
          <a:p>
            <a:r>
              <a:rPr lang="ru-RU" sz="2800" dirty="0"/>
              <a:t>Computational experiment</a:t>
            </a:r>
            <a:br>
              <a:rPr lang="ru-RU" sz="2800" dirty="0"/>
            </a:br>
            <a:r>
              <a:rPr lang="ru-RU" sz="2800" dirty="0"/>
              <a:t>or</a:t>
            </a:r>
            <a:br>
              <a:rPr lang="ru-RU" sz="2800" dirty="0"/>
            </a:br>
            <a:r>
              <a:rPr lang="ru-RU" sz="2800" dirty="0"/>
              <a:t>Evaluation of the quality of XXX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«Software Engineering»</a:t>
            </a:r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4" name="Прямоугольная выноска 13"/>
          <p:cNvSpPr/>
          <p:nvPr/>
        </p:nvSpPr>
        <p:spPr>
          <a:xfrm>
            <a:off x="3182816" y="3288323"/>
            <a:ext cx="5659077" cy="1717849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ОПИСАНИЕ МЕТОДИКИ ИССЛЕДОВАНИЙ, экспериментов и прочее (для исследовательских проектов)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План эксперимента.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Исходные данные для проведения эксперимента.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 Выходные данные эксперимента, методика их обработки, метрики, с чем сравниваются полученные результаты и прочее.</a:t>
            </a:r>
          </a:p>
        </p:txBody>
      </p:sp>
    </p:spTree>
    <p:extLst>
      <p:ext uri="{BB962C8B-B14F-4D97-AF65-F5344CB8AC3E}">
        <p14:creationId xmlns:p14="http://schemas.microsoft.com/office/powerpoint/2010/main" val="569701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626577"/>
            <a:ext cx="11156159" cy="509954"/>
          </a:xfrm>
        </p:spPr>
        <p:txBody>
          <a:bodyPr>
            <a:normAutofit/>
          </a:bodyPr>
          <a:lstStyle/>
          <a:p>
            <a:r>
              <a:rPr lang="ru-RU" sz="2800" dirty="0"/>
              <a:t>Main results (demonstration)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«Software Engineering»</a:t>
            </a:r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4" name="Прямоугольная выноска 13"/>
          <p:cNvSpPr/>
          <p:nvPr/>
        </p:nvSpPr>
        <p:spPr>
          <a:xfrm>
            <a:off x="3182816" y="2798463"/>
            <a:ext cx="5659077" cy="2207709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МОЖЕТ БЫТЬ ДЕМОНСТРАЦИЯ ПРОГРАММНОГО ПРОДУКТА, 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РЕЗУЛЬТАТЫ ИССЛЕДОВАНИЙ, ЭКСПЕРИМЕНТОВ  И ПРОЧЕЕ.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МОЖЕТ БЫТЬ НЕСКОЛЬКО СЛАЙДОВ.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ВАЖНО, ЧТОБЫ РЕЗУЛЬТАТЫ СООТВЕТСТВОВАЛИ ПОСТАВЛЕННЫМ ЗАДАЧАМ!!!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 описании результатов можете повторить задачи, но добавить по 1-3 предложения, описывающие полученные в ВКР результаты по каждой задаче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027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626577"/>
            <a:ext cx="11156159" cy="509954"/>
          </a:xfrm>
        </p:spPr>
        <p:txBody>
          <a:bodyPr>
            <a:normAutofit/>
          </a:bodyPr>
          <a:lstStyle/>
          <a:p>
            <a:r>
              <a:rPr lang="ru-RU" sz="2800" dirty="0"/>
              <a:t>Approbation (if any)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«Software Engineering»</a:t>
            </a:r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4" name="Прямоугольная выноска 13"/>
          <p:cNvSpPr/>
          <p:nvPr/>
        </p:nvSpPr>
        <p:spPr>
          <a:xfrm>
            <a:off x="3182816" y="2798463"/>
            <a:ext cx="5659077" cy="2207709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Может быть:</a:t>
            </a:r>
          </a:p>
          <a:p>
            <a:pPr marL="228600" lvl="0" indent="-228600">
              <a:lnSpc>
                <a:spcPct val="150000"/>
              </a:lnSpc>
              <a:buAutoNum type="arabicPeriod"/>
            </a:pPr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Выступления на конференциях, тезисы докладов</a:t>
            </a:r>
          </a:p>
          <a:p>
            <a:pPr marL="228600" lvl="0" indent="-228600">
              <a:lnSpc>
                <a:spcPct val="150000"/>
              </a:lnSpc>
              <a:buAutoNum type="arabicPeriod"/>
            </a:pPr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Публикации, статьи</a:t>
            </a:r>
          </a:p>
          <a:p>
            <a:pPr marL="228600" lvl="0" indent="-228600">
              <a:lnSpc>
                <a:spcPct val="150000"/>
              </a:lnSpc>
              <a:buAutoNum type="arabicPeriod"/>
            </a:pPr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Внедрение (акт или справка о внедрении, ссылка на ресурс, магазин приложений и т.п.)</a:t>
            </a:r>
          </a:p>
          <a:p>
            <a:pPr marL="228600" lvl="0" indent="-228600">
              <a:lnSpc>
                <a:spcPct val="150000"/>
              </a:lnSpc>
              <a:buAutoNum type="arabicPeriod"/>
            </a:pPr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Свидетельства о регистрации программы в </a:t>
            </a:r>
            <a:r>
              <a:rPr lang="ru-RU" sz="12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РОСПАТЕНТе</a:t>
            </a:r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(скан)</a:t>
            </a:r>
          </a:p>
        </p:txBody>
      </p:sp>
    </p:spTree>
    <p:extLst>
      <p:ext uri="{BB962C8B-B14F-4D97-AF65-F5344CB8AC3E}">
        <p14:creationId xmlns:p14="http://schemas.microsoft.com/office/powerpoint/2010/main" val="41775451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626577"/>
            <a:ext cx="11156159" cy="509954"/>
          </a:xfrm>
        </p:spPr>
        <p:txBody>
          <a:bodyPr>
            <a:normAutofit/>
          </a:bodyPr>
          <a:lstStyle/>
          <a:p>
            <a:r>
              <a:rPr lang="ru-RU" sz="2800" dirty="0"/>
              <a:t>Scientific novelty / practical significance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«Software Engineering»</a:t>
            </a:r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4" name="Прямоугольная выноска 13"/>
          <p:cNvSpPr/>
          <p:nvPr/>
        </p:nvSpPr>
        <p:spPr>
          <a:xfrm>
            <a:off x="1257300" y="2798463"/>
            <a:ext cx="7584593" cy="2207709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Научная новизна (может не быть)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Описываете новый научный результат.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Практическая значимость (может не быть)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Описываете практическую значимость разработки, что улучшает, что нового привносит и т.п.</a:t>
            </a:r>
          </a:p>
        </p:txBody>
      </p:sp>
    </p:spTree>
    <p:extLst>
      <p:ext uri="{BB962C8B-B14F-4D97-AF65-F5344CB8AC3E}">
        <p14:creationId xmlns:p14="http://schemas.microsoft.com/office/powerpoint/2010/main" val="3071503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626577"/>
            <a:ext cx="11156159" cy="509954"/>
          </a:xfrm>
        </p:spPr>
        <p:txBody>
          <a:bodyPr>
            <a:normAutofit/>
          </a:bodyPr>
          <a:lstStyle/>
          <a:p>
            <a:r>
              <a:rPr lang="ru-RU" sz="2800" dirty="0"/>
              <a:t>Future work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«Software Engineering»</a:t>
            </a:r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4" name="Прямоугольная выноска 13"/>
          <p:cNvSpPr/>
          <p:nvPr/>
        </p:nvSpPr>
        <p:spPr>
          <a:xfrm>
            <a:off x="1257300" y="2798463"/>
            <a:ext cx="7584593" cy="2207709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Future work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Если работа полезная и нужная, ее можно развивать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Если нет – то нет путей дальнейшей работы.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Обязательно напишите здесь несколько пунктов</a:t>
            </a:r>
          </a:p>
        </p:txBody>
      </p:sp>
    </p:spTree>
    <p:extLst>
      <p:ext uri="{BB962C8B-B14F-4D97-AF65-F5344CB8AC3E}">
        <p14:creationId xmlns:p14="http://schemas.microsoft.com/office/powerpoint/2010/main" val="29939541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/>
          <a:lstStyle/>
          <a:p>
            <a:r>
              <a:rPr lang="ru-RU" dirty="0"/>
              <a:t>References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3001840"/>
            <a:ext cx="10935543" cy="3161215"/>
          </a:xfrm>
        </p:spPr>
        <p:txBody>
          <a:bodyPr>
            <a:normAutofit/>
          </a:bodyPr>
          <a:lstStyle/>
          <a:p>
            <a:r>
              <a:rPr lang="en-US" dirty="0"/>
              <a:t>[1] Hatton, L. (2004). Safer language subsets: an overview and a case</a:t>
            </a:r>
            <a:r>
              <a:rPr lang="ru-RU" dirty="0"/>
              <a:t> </a:t>
            </a:r>
            <a:r>
              <a:rPr lang="en-US" dirty="0"/>
              <a:t>history, MISRA C. Information and Software Technology, 46(7), 465-472.</a:t>
            </a:r>
          </a:p>
          <a:p>
            <a:r>
              <a:rPr lang="en-US" dirty="0"/>
              <a:t>[2] Dijkstra, E. W. (1968). Letters to the editor: go to statement considered</a:t>
            </a:r>
            <a:r>
              <a:rPr lang="ru-RU" dirty="0"/>
              <a:t> </a:t>
            </a:r>
            <a:r>
              <a:rPr lang="en-US" dirty="0"/>
              <a:t>harmful. Communications of the ACM, 11(3), 147-148.</a:t>
            </a:r>
          </a:p>
          <a:p>
            <a:r>
              <a:rPr lang="en-US" dirty="0"/>
              <a:t>[3] Knuth, D. E. (1974). Structured programming with go to statements.</a:t>
            </a:r>
            <a:r>
              <a:rPr lang="ru-RU" dirty="0"/>
              <a:t> </a:t>
            </a:r>
            <a:br>
              <a:rPr lang="ru-RU" dirty="0"/>
            </a:br>
            <a:r>
              <a:rPr lang="en-US" dirty="0"/>
              <a:t>ACM Computing Surveys (CSUR), 6(4), 261-301.</a:t>
            </a:r>
          </a:p>
          <a:p>
            <a:r>
              <a:rPr lang="en-US" dirty="0"/>
              <a:t>[4] Williams, M. H., &amp; Chen, G. (1985). Restructuring pascal programs</a:t>
            </a:r>
            <a:r>
              <a:rPr lang="ru-RU" dirty="0"/>
              <a:t> </a:t>
            </a:r>
            <a:r>
              <a:rPr lang="en-US" dirty="0"/>
              <a:t>containing </a:t>
            </a:r>
            <a:r>
              <a:rPr lang="en-US" dirty="0" err="1"/>
              <a:t>goto</a:t>
            </a:r>
            <a:r>
              <a:rPr lang="en-US" dirty="0"/>
              <a:t> statements. The Computer Journal, 28(2), 134-137.</a:t>
            </a:r>
          </a:p>
          <a:p>
            <a:r>
              <a:rPr lang="en-US" dirty="0"/>
              <a:t>[5] </a:t>
            </a:r>
            <a:r>
              <a:rPr lang="en-US" dirty="0" err="1"/>
              <a:t>Ceccato</a:t>
            </a:r>
            <a:r>
              <a:rPr lang="en-US" dirty="0"/>
              <a:t>, M., </a:t>
            </a:r>
            <a:r>
              <a:rPr lang="en-US" dirty="0" err="1"/>
              <a:t>Tonella</a:t>
            </a:r>
            <a:r>
              <a:rPr lang="en-US" dirty="0"/>
              <a:t>, P., &amp; </a:t>
            </a:r>
            <a:r>
              <a:rPr lang="en-US" dirty="0" err="1"/>
              <a:t>Matteotti</a:t>
            </a:r>
            <a:r>
              <a:rPr lang="en-US" dirty="0"/>
              <a:t>, C. (2008, April). </a:t>
            </a:r>
            <a:r>
              <a:rPr lang="en-US" dirty="0" err="1"/>
              <a:t>Goto</a:t>
            </a:r>
            <a:r>
              <a:rPr lang="en-US" dirty="0"/>
              <a:t> elimination</a:t>
            </a:r>
            <a:r>
              <a:rPr lang="ru-RU" dirty="0"/>
              <a:t> </a:t>
            </a:r>
            <a:r>
              <a:rPr lang="en-US" dirty="0"/>
              <a:t>strategies in the migration of legacy code to Java. In 2008 12th European</a:t>
            </a:r>
            <a:r>
              <a:rPr lang="ru-RU" dirty="0"/>
              <a:t> </a:t>
            </a:r>
            <a:br>
              <a:rPr lang="ru-RU" dirty="0"/>
            </a:br>
            <a:r>
              <a:rPr lang="en-US" dirty="0"/>
              <a:t>Conference on Software Maintenance and Reengineering (pp. 53-62).</a:t>
            </a:r>
            <a:r>
              <a:rPr lang="ru-RU" dirty="0"/>
              <a:t> </a:t>
            </a:r>
            <a:r>
              <a:rPr lang="en-US" dirty="0"/>
              <a:t>IEEE.</a:t>
            </a:r>
          </a:p>
          <a:p>
            <a:r>
              <a:rPr lang="en-US" dirty="0"/>
              <a:t>[6] </a:t>
            </a:r>
            <a:r>
              <a:rPr lang="en-US" dirty="0" err="1"/>
              <a:t>Böhm</a:t>
            </a:r>
            <a:r>
              <a:rPr lang="en-US" dirty="0"/>
              <a:t>, C., &amp; </a:t>
            </a:r>
            <a:r>
              <a:rPr lang="en-US" dirty="0" err="1"/>
              <a:t>Jacopini</a:t>
            </a:r>
            <a:r>
              <a:rPr lang="en-US" dirty="0"/>
              <a:t>, G. (1966). Flow diagrams, Turing machines and languages with only two formation rules. Communications of the ACM, 9(5), 366-371.</a:t>
            </a:r>
          </a:p>
          <a:p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«Software Engineering»</a:t>
            </a:r>
          </a:p>
        </p:txBody>
      </p:sp>
      <p:sp>
        <p:nvSpPr>
          <p:cNvPr id="8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2" name="Прямоугольная выноска 11"/>
          <p:cNvSpPr/>
          <p:nvPr/>
        </p:nvSpPr>
        <p:spPr>
          <a:xfrm>
            <a:off x="4139843" y="1818461"/>
            <a:ext cx="5461251" cy="812708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Это некоторый образец списка.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Оформите в соответствии с ГОСТ.</a:t>
            </a:r>
          </a:p>
        </p:txBody>
      </p:sp>
    </p:spTree>
    <p:extLst>
      <p:ext uri="{BB962C8B-B14F-4D97-AF65-F5344CB8AC3E}">
        <p14:creationId xmlns:p14="http://schemas.microsoft.com/office/powerpoint/2010/main" val="13935543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2014718"/>
            <a:ext cx="11156159" cy="777025"/>
          </a:xfrm>
        </p:spPr>
        <p:txBody>
          <a:bodyPr/>
          <a:lstStyle/>
          <a:p>
            <a:pPr algn="ctr"/>
            <a:r>
              <a:rPr lang="ru-RU" dirty="0"/>
              <a:t>Thank you for your attention!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C43CB66B-7797-423D-A478-A598D0BB8D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50611" y="2812854"/>
            <a:ext cx="4226729" cy="2219169"/>
          </a:xfrm>
        </p:spPr>
        <p:txBody>
          <a:bodyPr>
            <a:normAutofit/>
          </a:bodyPr>
          <a:lstStyle/>
          <a:p>
            <a:pPr algn="ctr"/>
            <a:r>
              <a:rPr lang="en-US" sz="2000" dirty="0"/>
              <a:t>‹Author name›,</a:t>
            </a:r>
          </a:p>
          <a:p>
            <a:pPr algn="ctr"/>
            <a:r>
              <a:rPr lang="en-US" sz="2000" dirty="0"/>
              <a:t>‹Topic of the work›</a:t>
            </a:r>
          </a:p>
          <a:p>
            <a:pPr algn="ctr"/>
            <a:r>
              <a:rPr lang="en-US" sz="2000" dirty="0"/>
              <a:t>‹email›</a:t>
            </a:r>
            <a:endParaRPr lang="ru-RU" sz="2000" dirty="0"/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1279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A9C74E6E830D74E9B0FDDB4017A5417" ma:contentTypeVersion="13" ma:contentTypeDescription="Создание документа." ma:contentTypeScope="" ma:versionID="d4e423622451d608a8a05f4da7a1e1a2">
  <xsd:schema xmlns:xsd="http://www.w3.org/2001/XMLSchema" xmlns:xs="http://www.w3.org/2001/XMLSchema" xmlns:p="http://schemas.microsoft.com/office/2006/metadata/properties" xmlns:ns2="9875bd71-cde8-496c-a136-433f55d5e6d0" xmlns:ns3="e96afe77-3acb-4328-97fc-408e1bde3ecd" targetNamespace="http://schemas.microsoft.com/office/2006/metadata/properties" ma:root="true" ma:fieldsID="4831203c63c08b9f52ea6d3ee0d7a96e" ns2:_="" ns3:_="">
    <xsd:import namespace="9875bd71-cde8-496c-a136-433f55d5e6d0"/>
    <xsd:import namespace="e96afe77-3acb-4328-97fc-408e1bde3e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5bd71-cde8-496c-a136-433f55d5e6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afe77-3acb-4328-97fc-408e1bde3ec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4651DD-DCCC-4759-B2F6-7F520BDCC2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75bd71-cde8-496c-a136-433f55d5e6d0"/>
    <ds:schemaRef ds:uri="e96afe77-3acb-4328-97fc-408e1bde3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33DAF31-D8A6-49A0-9A5D-8B2EA5B1C511}">
  <ds:schemaRefs>
    <ds:schemaRef ds:uri="http://purl.org/dc/dcmitype/"/>
    <ds:schemaRef ds:uri="http://purl.org/dc/terms/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9875bd71-cde8-496c-a136-433f55d5e6d0"/>
    <ds:schemaRef ds:uri="http://schemas.openxmlformats.org/package/2006/metadata/core-properties"/>
    <ds:schemaRef ds:uri="e96afe77-3acb-4328-97fc-408e1bde3ecd"/>
  </ds:schemaRefs>
</ds:datastoreItem>
</file>

<file path=customXml/itemProps3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2342</TotalTime>
  <Words>2064</Words>
  <Application>Microsoft Office PowerPoint</Application>
  <PresentationFormat>Широкоэкранный</PresentationFormat>
  <Paragraphs>268</Paragraphs>
  <Slides>20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Consolas</vt:lpstr>
      <vt:lpstr>Courier New</vt:lpstr>
      <vt:lpstr>HSE Sans</vt:lpstr>
      <vt:lpstr>Office Theme</vt:lpstr>
      <vt:lpstr>‹Topic of the work› ‹English title of the work›</vt:lpstr>
      <vt:lpstr>Subject area</vt:lpstr>
      <vt:lpstr>Key terms and definitions</vt:lpstr>
      <vt:lpstr>Relevance</vt:lpstr>
      <vt:lpstr>Goal and objectives</vt:lpstr>
      <vt:lpstr>Analysis of existing solutions</vt:lpstr>
      <vt:lpstr>Functional requirements</vt:lpstr>
      <vt:lpstr>Analysis and selection of models, methods and algorithms</vt:lpstr>
      <vt:lpstr>Algorithms and data structures</vt:lpstr>
      <vt:lpstr>Technologies and implementation tools</vt:lpstr>
      <vt:lpstr>Application / system / service architecture (system diagram, design, diagrams, etc.)</vt:lpstr>
      <vt:lpstr>Input and output data</vt:lpstr>
      <vt:lpstr>Implementation details, testing</vt:lpstr>
      <vt:lpstr>Computational experiment or Evaluation of the quality of XXX</vt:lpstr>
      <vt:lpstr>Main results (demonstration)</vt:lpstr>
      <vt:lpstr>Approbation (if any)</vt:lpstr>
      <vt:lpstr>Scientific novelty / practical significance</vt:lpstr>
      <vt:lpstr>Future work</vt:lpstr>
      <vt:lpstr>References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Alex Shalaev</cp:lastModifiedBy>
  <cp:revision>33</cp:revision>
  <cp:lastPrinted>2021-11-11T13:08:42Z</cp:lastPrinted>
  <dcterms:created xsi:type="dcterms:W3CDTF">2021-11-11T08:52:47Z</dcterms:created>
  <dcterms:modified xsi:type="dcterms:W3CDTF">2026-07-20T15:25:44Z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</Properties>
</file>