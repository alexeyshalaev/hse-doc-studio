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25"/>
  </p:notesMasterIdLst>
  <p:sldIdLst>
    <p:sldId id="271" r:id="rId5"/>
    <p:sldId id="272" r:id="rId6"/>
    <p:sldId id="289" r:id="rId7"/>
    <p:sldId id="290" r:id="rId8"/>
    <p:sldId id="291" r:id="rId9"/>
    <p:sldId id="292" r:id="rId10"/>
    <p:sldId id="293" r:id="rId11"/>
    <p:sldId id="296" r:id="rId12"/>
    <p:sldId id="307" r:id="rId13"/>
    <p:sldId id="297" r:id="rId14"/>
    <p:sldId id="303" r:id="rId15"/>
    <p:sldId id="306" r:id="rId16"/>
    <p:sldId id="308" r:id="rId17"/>
    <p:sldId id="309" r:id="rId18"/>
    <p:sldId id="310" r:id="rId19"/>
    <p:sldId id="311" r:id="rId20"/>
    <p:sldId id="312" r:id="rId21"/>
    <p:sldId id="313" r:id="rId22"/>
    <p:sldId id="301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  <p:cmAuthor id="2" name="Лебедев Сергей Аркадьевич" initials="ЛСА" lastIdx="4" clrIdx="1">
    <p:extLst>
      <p:ext uri="{19B8F6BF-5375-455C-9EA6-DF929625EA0E}">
        <p15:presenceInfo xmlns:p15="http://schemas.microsoft.com/office/powerpoint/2012/main" userId="S-1-5-21-3674890872-1406439013-3720264777-488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8" autoAdjust="0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672" y="19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5-30T17:07:20.976" idx="1">
    <p:pos x="4697" y="3010"/>
    <p:text>Если официального соруководителя нет, то убрать.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2/2/26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0899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954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635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2503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755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255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286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9192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0892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466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6295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6281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10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80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296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65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186511"/>
            <a:ext cx="10244636" cy="138784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{{ author.topic | default(project.name, true) | xmlesc }}</a:t>
            </a:r>
            ((* if project.meta.name_en *))
            <a:br/>
            <a:r>
              <a:rPr lang="en-US" sz="2400" dirty="0"/>
              <a:t>{{ project.meta.name_en | default('', true) | xmlesc }}</a:t>
            </a:r>
            ((* endif *))
            <a:endParaRPr lang="ru-RU" sz="2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Департамент программной инженерии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{{ project.meta.city | default('Москва', true) | xmlesc }} {{ project.meta.year | default('', true) | xmlesc }}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18915" y="2371568"/>
            <a:ext cx="5606142" cy="2202480"/>
          </a:xfrm>
        </p:spPr>
        <p:txBody>
          <a:bodyPr numCol="2">
            <a:normAutofit/>
          </a:bodyPr>
          <a:lstStyle/>
          <a:p>
            <a:pPr algn="r"/>
            <a:br>
              <a:rPr lang="ru-RU" sz="1400" dirty="0"/>
            </a:b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r>
              <a:rPr lang="en-US" sz="1400" dirty="0"/>
              <a:t/>
            </a: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13150"/>
              </p:ext>
            </p:extLst>
          </p:nvPr>
        </p:nvGraphicFramePr>
        <p:xfrm>
          <a:off x="3679371" y="3774649"/>
          <a:ext cx="7593232" cy="21159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616">
                  <a:extLst>
                    <a:ext uri="{9D8B030D-6E8A-4147-A177-3AD203B41FA5}">
                      <a16:colId xmlns:a16="http://schemas.microsoft.com/office/drawing/2014/main" val="3296702773"/>
                    </a:ext>
                  </a:extLst>
                </a:gridCol>
                <a:gridCol w="3796616">
                  <a:extLst>
                    <a:ext uri="{9D8B030D-6E8A-4147-A177-3AD203B41FA5}">
                      <a16:colId xmlns:a16="http://schemas.microsoft.com/office/drawing/2014/main" val="2485219701"/>
                    </a:ext>
                  </a:extLst>
                </a:gridCol>
              </a:tblGrid>
              <a:tr h="957678">
                <a:tc>
                  <a:txBody>
                    <a:bodyPr/>
                    <a:lstStyle/>
                    <a:p>
                      <a:endParaRPr lang="ru-RU" sz="14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Выполнил студент группы {{ author.group | default('', true) | xmlesc }}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образовательной программы 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09.03.04 «Программная инженерия»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author.name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27350"/>
                  </a:ext>
                </a:extLst>
              </a:tr>
              <a:tr h="370840">
                <a:tc>
                  <a:txBody>
                    <a:bodyPr/>
                    <a:lstStyle/>
                    ((* if project.co_supervisor.name *))
                    <a:p>
                      <a:pPr algn="r"/>
                      <a:r>
                        <a:rPr lang="ru-RU" sz="1400" b="1" kern="12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Соруководитель</a:t>
                      </a:r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project.co_supervisor.name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  ((* else *))
                    <a:p/>
                    ((* endif *))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Руководитель: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project.supervisor.title | default('должность', true) | xmlesc }}((* if project.supervisor.degree *)), {{ project.supervisor.degree | xmlesc }}((* endif *))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project.supervisor.name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538864"/>
                  </a:ext>
                </a:extLst>
              </a:tr>
            </a:tbl>
          </a:graphicData>
        </a:graphic>
      </p:graphicFrame>
      <p:sp>
        <p:nvSpPr>
          <p:cNvPr id="10" name="Выноска 2 9"/>
          <p:cNvSpPr/>
          <p:nvPr/>
        </p:nvSpPr>
        <p:spPr>
          <a:xfrm>
            <a:off x="901211" y="3512526"/>
            <a:ext cx="4910504" cy="1134208"/>
          </a:xfrm>
          <a:prstGeom prst="borderCallout2">
            <a:avLst>
              <a:gd name="adj1" fmla="val 49254"/>
              <a:gd name="adj2" fmla="val 100048"/>
              <a:gd name="adj3" fmla="val 95364"/>
              <a:gd name="adj4" fmla="val 144576"/>
              <a:gd name="adj5" fmla="val 132163"/>
              <a:gd name="adj6" fmla="val 1778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Должности</a:t>
            </a:r>
            <a:r>
              <a:rPr lang="ru-RU" sz="1200" dirty="0"/>
              <a:t> – профессор департамента программной инженерии</a:t>
            </a:r>
            <a:r>
              <a:rPr lang="en-US" sz="1200" dirty="0"/>
              <a:t>|| </a:t>
            </a:r>
            <a:r>
              <a:rPr lang="ru-RU" sz="1200" dirty="0"/>
              <a:t>доцент департамента программной инженерии </a:t>
            </a:r>
            <a:r>
              <a:rPr lang="en-US" sz="1200" dirty="0"/>
              <a:t>||</a:t>
            </a:r>
            <a:r>
              <a:rPr lang="ru-RU" sz="1200" dirty="0"/>
              <a:t> старший преподаватель департамента программной инженерии// преподаватель департамента программной инженерии</a:t>
            </a:r>
          </a:p>
          <a:p>
            <a:r>
              <a:rPr lang="ru-RU" sz="1200" dirty="0"/>
              <a:t>Или другого департамента / лаборатории</a:t>
            </a:r>
            <a:endParaRPr lang="en-US" sz="1200" dirty="0"/>
          </a:p>
          <a:p>
            <a:r>
              <a:rPr lang="ru-RU" sz="1200" b="1" dirty="0"/>
              <a:t>Ученые степени</a:t>
            </a:r>
            <a:r>
              <a:rPr lang="ru-RU" sz="1200" dirty="0"/>
              <a:t>: д.т.н. </a:t>
            </a:r>
            <a:r>
              <a:rPr lang="en-US" sz="1200" dirty="0"/>
              <a:t>|| </a:t>
            </a:r>
            <a:r>
              <a:rPr lang="ru-RU" sz="1200" dirty="0"/>
              <a:t> </a:t>
            </a:r>
            <a:r>
              <a:rPr lang="ru-RU" sz="1200" dirty="0" err="1"/>
              <a:t>д.ф</a:t>
            </a:r>
            <a:r>
              <a:rPr lang="ru-RU" sz="1200" dirty="0"/>
              <a:t>.-м. н. </a:t>
            </a:r>
            <a:r>
              <a:rPr lang="en-US" sz="1200" dirty="0"/>
              <a:t>|| </a:t>
            </a:r>
            <a:r>
              <a:rPr lang="ru-RU" sz="1200" dirty="0"/>
              <a:t> к.т.н. </a:t>
            </a:r>
            <a:r>
              <a:rPr lang="en-US" sz="1200" dirty="0"/>
              <a:t>|| </a:t>
            </a:r>
            <a:r>
              <a:rPr lang="ru-RU" sz="1200" dirty="0"/>
              <a:t> к ф.-м. н.</a:t>
            </a:r>
            <a:r>
              <a:rPr lang="en-US" sz="1200" dirty="0"/>
              <a:t> </a:t>
            </a:r>
            <a:r>
              <a:rPr lang="ru-RU" sz="1200" dirty="0"/>
              <a:t>и т.п.</a:t>
            </a:r>
          </a:p>
        </p:txBody>
      </p:sp>
      <p:sp>
        <p:nvSpPr>
          <p:cNvPr id="11" name="Выноска 2 10"/>
          <p:cNvSpPr/>
          <p:nvPr/>
        </p:nvSpPr>
        <p:spPr>
          <a:xfrm>
            <a:off x="1173564" y="5244612"/>
            <a:ext cx="2505807" cy="459258"/>
          </a:xfrm>
          <a:prstGeom prst="borderCallout2">
            <a:avLst>
              <a:gd name="adj1" fmla="val 49254"/>
              <a:gd name="adj2" fmla="val 100048"/>
              <a:gd name="adj3" fmla="val -10888"/>
              <a:gd name="adj4" fmla="val 141944"/>
              <a:gd name="adj5" fmla="val -78428"/>
              <a:gd name="adj6" fmla="val 1917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dirty="0"/>
              <a:t>Если официального </a:t>
            </a:r>
            <a:r>
              <a:rPr lang="ru-RU" sz="1200" dirty="0" err="1"/>
              <a:t>соруководителя</a:t>
            </a:r>
            <a:r>
              <a:rPr lang="ru-RU" sz="1200" dirty="0"/>
              <a:t> нет, то убрать.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Описание предметной области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06511"/>
            <a:ext cx="5074238" cy="3393234"/>
          </a:xfrm>
        </p:spPr>
        <p:txBody>
          <a:bodyPr>
            <a:normAutofit/>
          </a:bodyPr>
          <a:lstStyle/>
          <a:p>
            <a:r>
              <a:rPr lang="ru-RU" sz="1800" b="1" dirty="0"/>
              <a:t>Статические анализаторы кода</a:t>
            </a:r>
            <a:br>
              <a:rPr lang="ru-RU" sz="1800" b="1" dirty="0"/>
            </a:br>
            <a:r>
              <a:rPr lang="ru-RU" sz="1600" i="1" dirty="0"/>
              <a:t>Цель – структурирование потока управления</a:t>
            </a:r>
            <a:endParaRPr lang="ru-RU" sz="1800" i="1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FCEB52-B82D-4645-B5B7-97B6D33A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97" y="3333470"/>
            <a:ext cx="6839905" cy="2076740"/>
          </a:xfrm>
          <a:prstGeom prst="rect">
            <a:avLst/>
          </a:prstGeom>
        </p:spPr>
      </p:pic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Выноска 1 13"/>
          <p:cNvSpPr/>
          <p:nvPr/>
        </p:nvSpPr>
        <p:spPr>
          <a:xfrm>
            <a:off x="6717321" y="1274125"/>
            <a:ext cx="4945931" cy="839718"/>
          </a:xfrm>
          <a:prstGeom prst="borderCallout1">
            <a:avLst>
              <a:gd name="adj1" fmla="val 51382"/>
              <a:gd name="adj2" fmla="val -163"/>
              <a:gd name="adj3" fmla="val 49573"/>
              <a:gd name="adj4" fmla="val -23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Приводится описание предметной области из ВКР</a:t>
            </a:r>
            <a:r>
              <a:rPr lang="en-US" sz="1200" dirty="0"/>
              <a:t> </a:t>
            </a:r>
            <a:r>
              <a:rPr lang="ru-RU" sz="1200" dirty="0"/>
              <a:t>и неформальная постановка задачи, в каких условиях ставилась задача на проект.</a:t>
            </a:r>
          </a:p>
          <a:p>
            <a:pPr algn="ctr"/>
            <a:r>
              <a:rPr lang="ru-RU" sz="1200" dirty="0"/>
              <a:t>Название заголовков необязательные. </a:t>
            </a:r>
          </a:p>
          <a:p>
            <a:pPr algn="ctr"/>
            <a:r>
              <a:rPr lang="ru-RU" sz="1200" dirty="0"/>
              <a:t>Можно написать содержательный заголовок по существу своей темы.</a:t>
            </a:r>
          </a:p>
        </p:txBody>
      </p:sp>
      <p:sp>
        <p:nvSpPr>
          <p:cNvPr id="16" name="Прямоугольная выноска 15"/>
          <p:cNvSpPr/>
          <p:nvPr/>
        </p:nvSpPr>
        <p:spPr>
          <a:xfrm>
            <a:off x="707781" y="3631223"/>
            <a:ext cx="3121269" cy="1827345"/>
          </a:xfrm>
          <a:prstGeom prst="wedgeRectCallout">
            <a:avLst>
              <a:gd name="adj1" fmla="val -20692"/>
              <a:gd name="adj2" fmla="val 629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Пожелание: использовать на одном слайде не более 3 цветов и не более 3 шрифтов.</a:t>
            </a:r>
            <a:endParaRPr lang="en-US" sz="1400" dirty="0"/>
          </a:p>
          <a:p>
            <a:pPr algn="ctr"/>
            <a:r>
              <a:rPr lang="ru-RU" sz="1400" dirty="0"/>
              <a:t>Во всей презентации размеры шрифтов примерно одинаковые.</a:t>
            </a:r>
          </a:p>
          <a:p>
            <a:pPr algn="ctr"/>
            <a:r>
              <a:rPr lang="ru-RU" sz="1400" dirty="0"/>
              <a:t>Фрагменты кода или псевдокода – </a:t>
            </a:r>
            <a:r>
              <a:rPr lang="ru-RU" sz="1400" dirty="0" err="1"/>
              <a:t>моноширинным</a:t>
            </a:r>
            <a:r>
              <a:rPr lang="ru-RU" sz="1400" dirty="0"/>
              <a:t> шрифтом (например,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Courier</a:t>
            </a:r>
            <a:r>
              <a:rPr lang="ru-RU" sz="1400" dirty="0"/>
              <a:t> или </a:t>
            </a:r>
            <a:r>
              <a:rPr lang="en-US" sz="1400" dirty="0">
                <a:latin typeface="Consolas" panose="020B0609020204030204" pitchFamily="49" charset="0"/>
              </a:rPr>
              <a:t>Consolas</a:t>
            </a:r>
            <a:r>
              <a:rPr lang="en-US" sz="1400" dirty="0"/>
              <a:t>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Основные термины, понятия и определения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403423" cy="3393234"/>
          </a:xfrm>
        </p:spPr>
        <p:txBody>
          <a:bodyPr>
            <a:normAutofit/>
          </a:bodyPr>
          <a:lstStyle/>
          <a:p>
            <a:r>
              <a:rPr lang="en-US" sz="1400" b="1" dirty="0"/>
              <a:t>JET</a:t>
            </a:r>
            <a:r>
              <a:rPr lang="en-US" sz="1400" dirty="0"/>
              <a:t> – jump elimination tool (</a:t>
            </a:r>
            <a:r>
              <a:rPr lang="ru-RU" sz="1400" dirty="0"/>
              <a:t>инструмент устранения прыжков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b="1" dirty="0"/>
              <a:t>Прыжки (операторы перехода) </a:t>
            </a:r>
            <a:r>
              <a:rPr lang="en-US" sz="1400" dirty="0"/>
              <a:t>–</a:t>
            </a:r>
            <a:r>
              <a:rPr lang="ru-RU" sz="1400" dirty="0"/>
              <a:t> операторы, совершающие переход к определённой точке программы (такие как </a:t>
            </a:r>
            <a:r>
              <a:rPr lang="en-US" sz="1400" dirty="0" err="1"/>
              <a:t>goto</a:t>
            </a:r>
            <a:r>
              <a:rPr lang="en-US" sz="1400" dirty="0"/>
              <a:t>, continue, break</a:t>
            </a:r>
            <a:r>
              <a:rPr lang="ru-RU" sz="1400" dirty="0"/>
              <a:t>)</a:t>
            </a:r>
            <a:endParaRPr lang="en-US" sz="1400" dirty="0"/>
          </a:p>
          <a:p>
            <a:r>
              <a:rPr lang="ru-RU" sz="1400" b="1" dirty="0"/>
              <a:t>Статический анализ кода</a:t>
            </a:r>
            <a:r>
              <a:rPr lang="ru-RU" sz="1400" dirty="0"/>
              <a:t> </a:t>
            </a:r>
            <a:r>
              <a:rPr lang="en-US" sz="1400" dirty="0"/>
              <a:t>–</a:t>
            </a:r>
            <a:r>
              <a:rPr lang="ru-RU" sz="1400" dirty="0"/>
              <a:t> анализ кода, производимый без запуска анализируемого кода</a:t>
            </a:r>
          </a:p>
          <a:p>
            <a:r>
              <a:rPr lang="ru-RU" sz="1400" b="1" dirty="0"/>
              <a:t>Семантическая эквивалентность </a:t>
            </a:r>
            <a:r>
              <a:rPr lang="ru-RU" sz="1400" dirty="0"/>
              <a:t>– максимально достижимая смысловая близость</a:t>
            </a:r>
          </a:p>
          <a:p>
            <a:r>
              <a:rPr lang="en-US" sz="1400" b="1" dirty="0"/>
              <a:t>JVM</a:t>
            </a:r>
            <a:r>
              <a:rPr lang="en-US" sz="1400" dirty="0"/>
              <a:t> – </a:t>
            </a:r>
            <a:r>
              <a:rPr lang="ru-RU" sz="1400" dirty="0"/>
              <a:t>виртуальная машина </a:t>
            </a:r>
            <a:r>
              <a:rPr lang="en-US" sz="1400" dirty="0"/>
              <a:t>Java</a:t>
            </a: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2" name="Прямоугольная выноска 1"/>
          <p:cNvSpPr/>
          <p:nvPr/>
        </p:nvSpPr>
        <p:spPr>
          <a:xfrm>
            <a:off x="7294942" y="2307981"/>
            <a:ext cx="3648808" cy="2338754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пример</a:t>
            </a:r>
            <a:endParaRPr lang="en-U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Желательно по алфавиту (по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ASCII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в порядке упоминания, но это неудобно читателю.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зачитывайте этот слайд!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назвать только 1-2 важных определения.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что-то надо будет уточнить, Вам зададут вопрос.</a:t>
            </a:r>
          </a:p>
        </p:txBody>
      </p:sp>
    </p:spTree>
    <p:extLst>
      <p:ext uri="{BB962C8B-B14F-4D97-AF65-F5344CB8AC3E}">
        <p14:creationId xmlns:p14="http://schemas.microsoft.com/office/powerpoint/2010/main" val="401375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Актуальность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5514" y="2516822"/>
            <a:ext cx="8896431" cy="404856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Неструктурированный программный код</a:t>
            </a:r>
            <a:br>
              <a:rPr lang="ru-RU" dirty="0"/>
            </a:br>
            <a:r>
              <a:rPr lang="ru-RU" dirty="0"/>
              <a:t>Вопросы вредности операторов перехода возникли с 1968г. Среди них можно выявить 3 основных момента: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Корректность кода, не содержащего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легче доказать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появляются проблемы форматирования, поскольку нарушается логическая структура кода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Применение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препятствует возможности оптимизации программного кода компилятором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Операторы перехода усложняют работу статическим анализаторам</a:t>
            </a:r>
            <a:br>
              <a:rPr lang="ru-RU" dirty="0"/>
            </a:br>
            <a:r>
              <a:rPr lang="ru-RU" dirty="0"/>
              <a:t>В результате чего могут возникать сложности с форматированием, проверкой кода анализатором и дальнейшей поддержкой программного кода. </a:t>
            </a:r>
            <a:br>
              <a:rPr lang="ru-RU" dirty="0"/>
            </a:br>
            <a:r>
              <a:rPr lang="ru-RU" dirty="0"/>
              <a:t>Снижение сложности потока управления может значительно улучшить статический анализ исходного кода в инструментах (таких как </a:t>
            </a:r>
            <a:r>
              <a:rPr lang="ru-RU" dirty="0" err="1"/>
              <a:t>Polystat</a:t>
            </a:r>
            <a:r>
              <a:rPr lang="ru-RU" dirty="0"/>
              <a:t>), которые в настоящее время используются более чем 20000 программистами Huawei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Такой анализ хорошо работает с операторами, которые легко сопоставить с функциями, например </a:t>
            </a:r>
            <a:r>
              <a:rPr lang="ru-RU" dirty="0" err="1"/>
              <a:t>if</a:t>
            </a:r>
            <a:r>
              <a:rPr lang="ru-RU" dirty="0"/>
              <a:t> и </a:t>
            </a:r>
            <a:r>
              <a:rPr lang="ru-RU" dirty="0" err="1"/>
              <a:t>switch</a:t>
            </a:r>
            <a:r>
              <a:rPr lang="ru-RU" dirty="0"/>
              <a:t>. Однако операторы перехода не могут быть также легко сопоставлены с функциями. Наличие операторов перехода в исходном коде делает невозможным использование функционального метода анализа.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2050" name="Picture 2" descr="Свободное общество dataved.ru: Принципы работы статического анализа кода">
            <a:extLst>
              <a:ext uri="{FF2B5EF4-FFF2-40B4-BE49-F238E27FC236}">
                <a16:creationId xmlns:a16="http://schemas.microsoft.com/office/drawing/2014/main" id="{F496D00D-BD4B-4115-BCDD-E14BDF61C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" y="2981706"/>
            <a:ext cx="23812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5029201" y="1134208"/>
            <a:ext cx="5253404" cy="120454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актуальность вашей работы (из ВКР) – КЛЮЧЕВЫЕ ТЕЗИСЫ!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можно показать, например, что много работ, конференций в последнее время посвящено вашей проблеме, какие компании занимаются похожей тематикой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показать, например, в каких прикладных задачах  используются  разработки, программы и пр.</a:t>
            </a:r>
          </a:p>
        </p:txBody>
      </p:sp>
    </p:spTree>
    <p:extLst>
      <p:ext uri="{BB962C8B-B14F-4D97-AF65-F5344CB8AC3E}">
        <p14:creationId xmlns:p14="http://schemas.microsoft.com/office/powerpoint/2010/main" val="398845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Цель и задачи ВКР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10752663" cy="3393234"/>
          </a:xfrm>
        </p:spPr>
        <p:txBody>
          <a:bodyPr>
            <a:normAutofit/>
          </a:bodyPr>
          <a:lstStyle/>
          <a:p>
            <a:r>
              <a:rPr lang="ru-RU" sz="1400" i="1" dirty="0"/>
              <a:t>Цель работы</a:t>
            </a:r>
            <a:r>
              <a:rPr lang="ru-RU" sz="1400" dirty="0"/>
              <a:t> – разработать инструмент для удаления операторов перехода</a:t>
            </a:r>
          </a:p>
          <a:p>
            <a:r>
              <a:rPr lang="ru-RU" sz="1400" i="1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Разработать алгоритм устранения таких операторов как: </a:t>
            </a:r>
            <a:r>
              <a:rPr lang="en-US" sz="1400" dirty="0"/>
              <a:t>break, continue, </a:t>
            </a:r>
            <a:r>
              <a:rPr lang="en-US" sz="1400" dirty="0" err="1"/>
              <a:t>goto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Обеспечить семантическую эквивалентность трансформированного кода входному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Трансформация программного кода на таких языках как </a:t>
            </a:r>
            <a:r>
              <a:rPr lang="en-US" sz="1400" dirty="0"/>
              <a:t>Kotlin, Java, C#;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Расширяемость алгоритма для семейства </a:t>
            </a:r>
            <a:r>
              <a:rPr lang="en-US" sz="1400" dirty="0"/>
              <a:t>C-</a:t>
            </a:r>
            <a:r>
              <a:rPr lang="ru-RU" sz="1400" dirty="0"/>
              <a:t>подобных языков.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7680010" y="1507878"/>
            <a:ext cx="4062046" cy="174087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формальная постановка цели и задач (из ВКР).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– одна.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 – много.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пример задач, у каждого в ВКР они свои.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Далее план презентации может быть, например, по задачам…</a:t>
            </a:r>
          </a:p>
        </p:txBody>
      </p:sp>
    </p:spTree>
    <p:extLst>
      <p:ext uri="{BB962C8B-B14F-4D97-AF65-F5344CB8AC3E}">
        <p14:creationId xmlns:p14="http://schemas.microsoft.com/office/powerpoint/2010/main" val="318103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Анализ существующих решений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5321126" cy="3393234"/>
          </a:xfrm>
        </p:spPr>
        <p:txBody>
          <a:bodyPr>
            <a:normAutofit/>
          </a:bodyPr>
          <a:lstStyle/>
          <a:p>
            <a:r>
              <a:rPr lang="ru-RU" sz="1400" dirty="0"/>
              <a:t>Аналогичных инструментов на момент написания работы найдено не было.</a:t>
            </a:r>
          </a:p>
          <a:p>
            <a:r>
              <a:rPr lang="ru-RU" sz="1400" dirty="0"/>
              <a:t>Проводимые ранее исследования базировались преимущественно на использовании некоторого количества паттернов и «обёртки» из условного выражения. </a:t>
            </a:r>
          </a:p>
          <a:p>
            <a:r>
              <a:rPr lang="ru-RU" sz="1400" dirty="0"/>
              <a:t>Базовый алгоритм работ-аналогов: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Выявление всех операторов и точек их перехода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Объявление признака перехода для каждой метки</a:t>
            </a:r>
            <a:r>
              <a:rPr lang="en-US" sz="1400" dirty="0"/>
              <a:t>;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Трансформация всех без-условных операторов в условные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Устранение операторов при помощи подходов для каждого случая</a:t>
            </a:r>
            <a:r>
              <a:rPr lang="en-US" sz="1400" dirty="0"/>
              <a:t>;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ED7F03-B3A4-4342-809D-9CF67F35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84" y="3842238"/>
            <a:ext cx="4855726" cy="2850929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6585789" y="1598674"/>
            <a:ext cx="5050829" cy="156197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Показать, какие теоретические / технологические подходы к решению задач по теме существуют. 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Основа – анализ российских и зарубежных  источников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Анализ аналогов. Для аналогов обязательно указать разработчиков / компанию, версию, год издания, дать ссылку на сайт разработчика / продукта, обязательно покажите эмблему разработчика, если она есть</a:t>
            </a:r>
          </a:p>
        </p:txBody>
      </p:sp>
    </p:spTree>
    <p:extLst>
      <p:ext uri="{BB962C8B-B14F-4D97-AF65-F5344CB8AC3E}">
        <p14:creationId xmlns:p14="http://schemas.microsoft.com/office/powerpoint/2010/main" val="403901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Функциональные требования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8805" y="2255070"/>
            <a:ext cx="10534390" cy="3893122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составлять отчёт по количеству найденных операторов перехода</a:t>
            </a:r>
            <a:r>
              <a:rPr lang="en-US" sz="16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обрабатывать программный код, написанный на языках программирования</a:t>
            </a:r>
            <a:r>
              <a:rPr lang="en-US" sz="16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 </a:t>
            </a:r>
            <a:r>
              <a:rPr lang="en-US" sz="1600" dirty="0"/>
              <a:t>Kotlin;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Java;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 C#;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устранять операторы: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break;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continue;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err="1"/>
              <a:t>goto</a:t>
            </a:r>
            <a:r>
              <a:rPr lang="en-US" sz="1600" dirty="0"/>
              <a:t> (labels);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быть совместима с </a:t>
            </a:r>
            <a:r>
              <a:rPr lang="en-US" sz="1600" dirty="0"/>
              <a:t>JVMv8.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163976" y="3137144"/>
            <a:ext cx="5371532" cy="27141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 Могут быть функциональные требования к программе, может быть модуль, может быть библиотека, может быть сервер или клиент и т.п. 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 содержанию слайда: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Что должна выполнять программа (функциональные требования)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Что на входе, на выходе (потом позже можно подробнее при необходимости)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Каким должен быть интерфейс, какие настройки и т.п.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просто указан образец, Вы указываете свои данные.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Анализ и выбор моделей, методов и алгоритмов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3D2EFC-BFF8-4AD3-97C8-DB261323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9" y="2006765"/>
            <a:ext cx="5051915" cy="45051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2891A8-74BE-43BD-9E08-783D8EB0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76" y="4364901"/>
            <a:ext cx="2089817" cy="1852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C26ECB-B0F6-4114-A0AB-FACE532C0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073" y="4364856"/>
            <a:ext cx="2459617" cy="1852783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6589836" y="2127738"/>
            <a:ext cx="4092748" cy="135613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Могут быть текстовое описание с перечислением, схемы, картинки и т.п.</a:t>
            </a:r>
          </a:p>
        </p:txBody>
      </p:sp>
    </p:spTree>
    <p:extLst>
      <p:ext uri="{BB962C8B-B14F-4D97-AF65-F5344CB8AC3E}">
        <p14:creationId xmlns:p14="http://schemas.microsoft.com/office/powerpoint/2010/main" val="247765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Алгоритмы и структуры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3169626" y="2633295"/>
            <a:ext cx="6308411" cy="1846385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Приводятся схемы или описание алгоритма на псевдоязыке или иллюстрации на примере и т.д., структуры данных в проекте, схемы данных, диаграммы классов и т.п.</a:t>
            </a:r>
          </a:p>
        </p:txBody>
      </p:sp>
    </p:spTree>
    <p:extLst>
      <p:ext uri="{BB962C8B-B14F-4D97-AF65-F5344CB8AC3E}">
        <p14:creationId xmlns:p14="http://schemas.microsoft.com/office/powerpoint/2010/main" val="16798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Технологии и инструменты реализации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Kotlin</a:t>
            </a:r>
          </a:p>
          <a:p>
            <a:r>
              <a:rPr lang="en-US" sz="1600" dirty="0"/>
              <a:t>IntelliJ IDEA</a:t>
            </a:r>
          </a:p>
          <a:p>
            <a:r>
              <a:rPr lang="en-US" sz="1600" dirty="0"/>
              <a:t>Gradle</a:t>
            </a:r>
          </a:p>
          <a:p>
            <a:r>
              <a:rPr lang="en-US" sz="1600" dirty="0"/>
              <a:t>GitHub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3074" name="Picture 2" descr="pbs.twimg.com/profile_images/139932969434074727...">
            <a:extLst>
              <a:ext uri="{FF2B5EF4-FFF2-40B4-BE49-F238E27FC236}">
                <a16:creationId xmlns:a16="http://schemas.microsoft.com/office/drawing/2014/main" id="{051AA271-63E2-4247-81C2-E50E769A6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76679">
            <a:off x="7574512" y="2042622"/>
            <a:ext cx="1025624" cy="102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telliJ IDEA — Википедия">
            <a:extLst>
              <a:ext uri="{FF2B5EF4-FFF2-40B4-BE49-F238E27FC236}">
                <a16:creationId xmlns:a16="http://schemas.microsoft.com/office/drawing/2014/main" id="{413D2A3D-341F-4463-9C46-9E54222DA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7530">
            <a:off x="9653051" y="2820772"/>
            <a:ext cx="1092619" cy="109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radle | Gradle Guides">
            <a:extLst>
              <a:ext uri="{FF2B5EF4-FFF2-40B4-BE49-F238E27FC236}">
                <a16:creationId xmlns:a16="http://schemas.microsoft.com/office/drawing/2014/main" id="{1F4C9045-90C2-410C-8475-E1168E05C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5654">
            <a:off x="7145267" y="3542761"/>
            <a:ext cx="1467251" cy="14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itHub · GitHub">
            <a:extLst>
              <a:ext uri="{FF2B5EF4-FFF2-40B4-BE49-F238E27FC236}">
                <a16:creationId xmlns:a16="http://schemas.microsoft.com/office/drawing/2014/main" id="{B1772497-5D9C-4276-96E7-AA5E5B17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0009">
            <a:off x="9394795" y="4687268"/>
            <a:ext cx="1152407" cy="115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5" name="Прямоугольная выноска 14"/>
          <p:cNvSpPr/>
          <p:nvPr/>
        </p:nvSpPr>
        <p:spPr>
          <a:xfrm>
            <a:off x="2185548" y="2586178"/>
            <a:ext cx="4572568" cy="1682580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Указывается выбранный инструментарий, язык и среда программирования, разработки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Стороннике библиотеки (со ссылками, указанием авторов, версии, года и т.п.)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Контроль версий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эмблемы компаний, название инструмента, его назначение (тогда можно не останавливаться подробно)</a:t>
            </a:r>
          </a:p>
        </p:txBody>
      </p:sp>
    </p:spTree>
    <p:extLst>
      <p:ext uri="{BB962C8B-B14F-4D97-AF65-F5344CB8AC3E}">
        <p14:creationId xmlns:p14="http://schemas.microsoft.com/office/powerpoint/2010/main" val="160992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Архитектура приложения/системы/сервиса (схема системы, проект, диаграммы и т.п.)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2189830" y="2715776"/>
            <a:ext cx="7948291" cy="2501411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архитектура программной системы в любом из известных архитектурных шаблонов.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схеме надо показать крупно последовательность работы программы. Выделите, где используются библиотеки.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может быть карта процессов, системный ландшафт, 4-х контекстная диаграмма, пользовательские сценарии, сценарии взаимодействия подсистем в системе.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Используйте известные нотации для описания.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САМОЕ ГЛАВНОЕ: выделите те компоненты, разработку которых реализовали именно ВЫ!!!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Самый частый вопрос на защите после вашего доклада, в котором вы рассказываете о методах, алгоритмах, потом об использованных библиотеках: «А что же сделали именно вы?», «Какой Ваш вклад в разработанное решение?»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463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sz="2800" dirty="0"/>
              <a:t>Входные и выходные данные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090497" y="2715776"/>
            <a:ext cx="5659077" cy="164855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вам есть что сказать по входным-выходным данным, напишите тоже.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Например – подготовка входных данных для алгоритма ХХХ заключается в следующем.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– модели были получены из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репозитория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ХХХ (ссылка, автор и пр.).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диаграмма потоков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422648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Особенности программной реализации, испытания/тестирование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3594697" y="3033347"/>
            <a:ext cx="5138558" cy="16167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Отражаются особенности программной реализации, тестирования, испытаний и вашего решения.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</p:txBody>
      </p:sp>
    </p:spTree>
    <p:extLst>
      <p:ext uri="{BB962C8B-B14F-4D97-AF65-F5344CB8AC3E}">
        <p14:creationId xmlns:p14="http://schemas.microsoft.com/office/powerpoint/2010/main" val="26708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1145941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Вычислительный эксперимент</a:t>
            </a:r>
            <a:br>
              <a:rPr lang="ru-RU" sz="2800" dirty="0"/>
            </a:br>
            <a:r>
              <a:rPr lang="ru-RU" sz="2800" dirty="0"/>
              <a:t>или</a:t>
            </a:r>
            <a:br>
              <a:rPr lang="ru-RU" sz="2800" dirty="0"/>
            </a:br>
            <a:r>
              <a:rPr lang="ru-RU" sz="2800" dirty="0"/>
              <a:t>Оценивание качества работы ХХХ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3288323"/>
            <a:ext cx="5659077" cy="171784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ОПИСАНИЕ МЕТОДИКИ ИССЛЕДОВАНИЙ, экспериментов и прочее (для исследовательских проектов)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План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Исходные данные для проведения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Выходные данные эксперимента, методика их обработки, метрики, с чем сравниваются полученные результаты и прочее.</a:t>
            </a:r>
          </a:p>
        </p:txBody>
      </p:sp>
    </p:spTree>
    <p:extLst>
      <p:ext uri="{BB962C8B-B14F-4D97-AF65-F5344CB8AC3E}">
        <p14:creationId xmlns:p14="http://schemas.microsoft.com/office/powerpoint/2010/main" val="56970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Основные результаты работы (демонстрация)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ДЕМОНСТРАЦИЯ ПРОГРАММНОГО ПРОДУКТА,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РЕЗУЛЬТАТЫ ИССЛЕДОВАНИЙ, ЭКСПЕРИМЕНТОВ 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ВАЖНО, ЧТОБЫ РЕЗУЛЬТАТЫ СООТВЕТСТВОВАЛИ ПОСТАВЛЕННЫМ ЗАДАЧАМ!!!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описании результатов можете повторить задачи, но добавить по 1-3 предложения, описывающие полученные в ВКР результаты по каждой задаче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02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Апробация работы (если есть)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быть: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Выступления на конференциях, тезисы докладов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Публикации, статьи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(акт или справка о внедрении, ссылка на ресурс, магазин приложений и т.п.)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Свидетельства о регистрации программы в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РОСПАТЕНТе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(скан)</a:t>
            </a:r>
          </a:p>
        </p:txBody>
      </p:sp>
    </p:spTree>
    <p:extLst>
      <p:ext uri="{BB962C8B-B14F-4D97-AF65-F5344CB8AC3E}">
        <p14:creationId xmlns:p14="http://schemas.microsoft.com/office/powerpoint/2010/main" val="417754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Научная новизна / практическая значимость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Научная новизна (может не быть)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новый научный результат.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Практическая значимость (может не быть)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практическую значимость разработки, что улучшает, что нового привносит и т.п.</a:t>
            </a:r>
          </a:p>
        </p:txBody>
      </p:sp>
    </p:spTree>
    <p:extLst>
      <p:ext uri="{BB962C8B-B14F-4D97-AF65-F5344CB8AC3E}">
        <p14:creationId xmlns:p14="http://schemas.microsoft.com/office/powerpoint/2010/main" val="307150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Пути дальнейшей работы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Пути дальнейшей работы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работа полезная и нужная, ее можно развивать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нет – то нет путей дальнейшей работы.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напишите здесь несколько пунктов</a:t>
            </a:r>
          </a:p>
        </p:txBody>
      </p:sp>
    </p:spTree>
    <p:extLst>
      <p:ext uri="{BB962C8B-B14F-4D97-AF65-F5344CB8AC3E}">
        <p14:creationId xmlns:p14="http://schemas.microsoft.com/office/powerpoint/2010/main" val="2993954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dirty="0"/>
              <a:t>Список источников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3001840"/>
            <a:ext cx="10935543" cy="3161215"/>
          </a:xfrm>
        </p:spPr>
        <p:txBody>
          <a:bodyPr>
            <a:normAutofit/>
          </a:bodyPr>
          <a:lstStyle/>
          <a:p>
            <a:r>
              <a:rPr lang="en-US" dirty="0"/>
              <a:t>[1] Hatton, L. (2004). Safer language subsets: an overview and a case</a:t>
            </a:r>
            <a:r>
              <a:rPr lang="ru-RU" dirty="0"/>
              <a:t> </a:t>
            </a:r>
            <a:r>
              <a:rPr lang="en-US" dirty="0"/>
              <a:t>history, MISRA C. Information and Software Technology, 46(7), 465-472.</a:t>
            </a:r>
          </a:p>
          <a:p>
            <a:r>
              <a:rPr lang="en-US" dirty="0"/>
              <a:t>[2] Dijkstra, E. W. (1968). Letters to the editor: go to statement considered</a:t>
            </a:r>
            <a:r>
              <a:rPr lang="ru-RU" dirty="0"/>
              <a:t> </a:t>
            </a:r>
            <a:r>
              <a:rPr lang="en-US" dirty="0"/>
              <a:t>harmful. Communications of the ACM, 11(3), 147-148.</a:t>
            </a:r>
          </a:p>
          <a:p>
            <a:r>
              <a:rPr lang="en-US" dirty="0"/>
              <a:t>[3] Knuth, D. E. (1974). Structured programming with go to statements.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ACM Computing Surveys (CSUR), 6(4), 261-301.</a:t>
            </a:r>
          </a:p>
          <a:p>
            <a:r>
              <a:rPr lang="en-US" dirty="0"/>
              <a:t>[4] Williams, M. H., &amp; Chen, G. (1985). Restructuring pascal programs</a:t>
            </a:r>
            <a:r>
              <a:rPr lang="ru-RU" dirty="0"/>
              <a:t> </a:t>
            </a:r>
            <a:r>
              <a:rPr lang="en-US" dirty="0"/>
              <a:t>containing </a:t>
            </a:r>
            <a:r>
              <a:rPr lang="en-US" dirty="0" err="1"/>
              <a:t>goto</a:t>
            </a:r>
            <a:r>
              <a:rPr lang="en-US" dirty="0"/>
              <a:t> statements. The Computer Journal, 28(2), 134-137.</a:t>
            </a:r>
          </a:p>
          <a:p>
            <a:r>
              <a:rPr lang="en-US" dirty="0"/>
              <a:t>[5] </a:t>
            </a:r>
            <a:r>
              <a:rPr lang="en-US" dirty="0" err="1"/>
              <a:t>Ceccato</a:t>
            </a:r>
            <a:r>
              <a:rPr lang="en-US" dirty="0"/>
              <a:t>, M., </a:t>
            </a:r>
            <a:r>
              <a:rPr lang="en-US" dirty="0" err="1"/>
              <a:t>Tonella</a:t>
            </a:r>
            <a:r>
              <a:rPr lang="en-US" dirty="0"/>
              <a:t>, P., &amp; </a:t>
            </a:r>
            <a:r>
              <a:rPr lang="en-US" dirty="0" err="1"/>
              <a:t>Matteotti</a:t>
            </a:r>
            <a:r>
              <a:rPr lang="en-US" dirty="0"/>
              <a:t>, C. (2008, April). </a:t>
            </a:r>
            <a:r>
              <a:rPr lang="en-US" dirty="0" err="1"/>
              <a:t>Goto</a:t>
            </a:r>
            <a:r>
              <a:rPr lang="en-US" dirty="0"/>
              <a:t> elimination</a:t>
            </a:r>
            <a:r>
              <a:rPr lang="ru-RU" dirty="0"/>
              <a:t> </a:t>
            </a:r>
            <a:r>
              <a:rPr lang="en-US" dirty="0"/>
              <a:t>strategies in the migration of legacy code to Java. In 2008 12th European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Conference on Software Maintenance and Reengineering (pp. 53-62).</a:t>
            </a:r>
            <a:r>
              <a:rPr lang="ru-RU" dirty="0"/>
              <a:t> </a:t>
            </a:r>
            <a:r>
              <a:rPr lang="en-US" dirty="0"/>
              <a:t>IEEE.</a:t>
            </a:r>
          </a:p>
          <a:p>
            <a:r>
              <a:rPr lang="en-US" dirty="0"/>
              <a:t>[6] </a:t>
            </a:r>
            <a:r>
              <a:rPr lang="en-US" dirty="0" err="1"/>
              <a:t>Böhm</a:t>
            </a:r>
            <a:r>
              <a:rPr lang="en-US" dirty="0"/>
              <a:t>, C., &amp; </a:t>
            </a:r>
            <a:r>
              <a:rPr lang="en-US" dirty="0" err="1"/>
              <a:t>Jacopini</a:t>
            </a:r>
            <a:r>
              <a:rPr lang="en-US" dirty="0"/>
              <a:t>, G. (1966). Flow diagrams, Turing machines and languages with only two formation rules. Communications of the ACM, 9(5), 366-371.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4139843" y="1818461"/>
            <a:ext cx="5461251" cy="81270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некоторый образец списка.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Оформите в соответствии с ГОСТ.</a:t>
            </a:r>
          </a:p>
        </p:txBody>
      </p:sp>
    </p:spTree>
    <p:extLst>
      <p:ext uri="{BB962C8B-B14F-4D97-AF65-F5344CB8AC3E}">
        <p14:creationId xmlns:p14="http://schemas.microsoft.com/office/powerpoint/2010/main" val="139355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2014718"/>
            <a:ext cx="11156159" cy="777025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C43CB66B-7797-423D-A478-A598D0BB8D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0611" y="2812854"/>
            <a:ext cx="4226729" cy="2219169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{{ author.name | default('', true) | xmlesc }},</a:t>
            </a:r>
            <a:endParaRPr lang="en-US" sz="2000" dirty="0"/>
          </a:p>
          <a:p>
            <a:pPr algn="ctr"/>
            <a:r>
              <a:rPr lang="en-US" sz="2000" dirty="0"/>
              <a:t>{{ author.topic | default(project.name, true) | xmlesc }}</a:t>
            </a:r>
          </a:p>
          <a:p>
            <a:pPr algn="ctr"/>
            <a:r>
              <a:rPr lang="en-US" sz="2000" dirty="0"/>
              <a:t>{{ author.email | default('', true) | xmlesc }}</a:t>
            </a:r>
            <a:endParaRPr lang="ru-RU" sz="2000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27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9875bd71-cde8-496c-a136-433f55d5e6d0"/>
    <ds:schemaRef ds:uri="http://schemas.openxmlformats.org/package/2006/metadata/core-properties"/>
    <ds:schemaRef ds:uri="e96afe77-3acb-4328-97fc-408e1bde3ecd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2340</TotalTime>
  <Words>2161</Words>
  <Application>Microsoft Macintosh PowerPoint</Application>
  <PresentationFormat>Widescreen</PresentationFormat>
  <Paragraphs>268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Courier New</vt:lpstr>
      <vt:lpstr>HSE Sans</vt:lpstr>
      <vt:lpstr>Office Theme</vt:lpstr>
      <vt:lpstr>&lt;Тема ВКР на русском языке&gt;  &lt;Тема ВКР на английском языке&gt;</vt:lpstr>
      <vt:lpstr>Описание предметной области</vt:lpstr>
      <vt:lpstr>Основные термины, понятия и определения</vt:lpstr>
      <vt:lpstr>Актуальность</vt:lpstr>
      <vt:lpstr>Цель и задачи ВКР</vt:lpstr>
      <vt:lpstr>Анализ существующих решений</vt:lpstr>
      <vt:lpstr>Функциональные требования</vt:lpstr>
      <vt:lpstr>Анализ и выбор моделей, методов и алгоритмов</vt:lpstr>
      <vt:lpstr>Алгоритмы и структуры данных</vt:lpstr>
      <vt:lpstr>Технологии и инструменты реализации</vt:lpstr>
      <vt:lpstr>Архитектура приложения/системы/сервиса (схема системы, проект, диаграммы и т.п.)</vt:lpstr>
      <vt:lpstr>Входные и выходные данные</vt:lpstr>
      <vt:lpstr>Особенности программной реализации, испытания/тестирование</vt:lpstr>
      <vt:lpstr>Вычислительный эксперимент или Оценивание качества работы ХХХ</vt:lpstr>
      <vt:lpstr>Основные результаты работы (демонстрация)</vt:lpstr>
      <vt:lpstr>Апробация работы (если есть)</vt:lpstr>
      <vt:lpstr>Научная новизна / практическая значимость</vt:lpstr>
      <vt:lpstr>Пути дальнейшей работы</vt:lpstr>
      <vt:lpstr>Список источников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Elena Pesotskaya</cp:lastModifiedBy>
  <cp:revision>30</cp:revision>
  <cp:lastPrinted>2021-11-11T13:08:42Z</cp:lastPrinted>
  <dcterms:created xsi:type="dcterms:W3CDTF">2021-11-11T08:52:47Z</dcterms:created>
  <dcterms:modified xsi:type="dcterms:W3CDTF">2026-02-02T11:48:37Z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